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95662E9-4935-4B42-8BA4-0DC0B35F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5C88A11-DEEB-484C-9176-8B7010E39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9CE9EF1-DC3D-46E6-9646-4A839464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C71BF7-D8F8-4987-9B5A-88A19467A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E9FF7E4-5FE7-4479-9698-692084B4A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46D237D-1D00-4722-8110-FC765564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6AC4A8B-706C-48BC-B42B-C59E224F4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D4576FB-D90A-4B5D-991A-EAB97A476C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FED665-83C4-4B6C-B73C-F53FD7B3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DBBC0A8-2C10-4DF6-9FDC-5238A24AF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2EDE10-D046-4BC1-88E3-83A6C5EF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54" r="22454"/>
          <a:stretch>
            <a:fillRect/>
          </a:stretch>
        </p:blipFill>
        <p:spPr>
          <a:xfrm>
            <a:off x="6524625" y="0"/>
            <a:ext cx="566737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280114-C2AF-4901-80F6-A40EF64FD0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246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44439F-E538-4248-89A8-4266E7676679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5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65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65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BLAST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C69C32-BFA2-4703-BC19-83889DDE2A3D}"/>
              </a:ext>
            </a:extLst>
          </p:cNvPr>
          <p:cNvSpPr>
            <a:spLocks noGrp="1"/>
          </p:cNvSpPr>
          <p:nvPr/>
        </p:nvSpPr>
        <p:spPr>
          <a:xfrm>
            <a:off x="3581400" y="1200150"/>
            <a:ext cx="233362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5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65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6525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47C4D-6D7F-4B78-A2C1-3BB6166F1E58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53054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2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225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3714B-81ED-4EC9-A2F1-C584C1357BD3}"/>
              </a:ext>
            </a:extLst>
          </p:cNvPr>
          <p:cNvSpPr>
            <a:spLocks noGrp="1"/>
          </p:cNvSpPr>
          <p:nvPr/>
        </p:nvSpPr>
        <p:spPr>
          <a:xfrm>
            <a:off x="695325" y="3524250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Xploma  /  INSY7315 Work Integrated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C62DD3-7BEF-4CF3-B4DF-F5A70943CA44}"/>
              </a:ext>
            </a:extLst>
          </p:cNvPr>
          <p:cNvSpPr>
            <a:spLocks noGrp="1"/>
          </p:cNvSpPr>
          <p:nvPr/>
        </p:nvSpPr>
        <p:spPr>
          <a:xfrm>
            <a:off x="695325" y="4371975"/>
            <a:ext cx="876300" cy="76200"/>
          </a:xfrm>
          <a:prstGeom prst="rect">
            <a:avLst/>
          </a:prstGeom>
          <a:solidFill>
            <a:srgbClr val="ED252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607FC0-18C2-46EC-AA17-AC5675A559D0}"/>
              </a:ext>
            </a:extLst>
          </p:cNvPr>
          <p:cNvSpPr>
            <a:spLocks noGrp="1"/>
          </p:cNvSpPr>
          <p:nvPr/>
        </p:nvSpPr>
        <p:spPr>
          <a:xfrm>
            <a:off x="695325" y="4714875"/>
            <a:ext cx="52387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20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Nicholas Farquhar  ·  Zain Labuschagne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Matthew Jackson  ·  Jaco Smit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Ethan Chip</a:t>
            </a:r>
            <a:r>
              <a:rPr lang="en-ZA" sz="1500" b="0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p</a:t>
            </a:r>
            <a:r>
              <a:rPr sz="1500" b="0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s  ·  Jarred Blamire</a:t>
            </a:r>
          </a:p>
        </p:txBody>
      </p:sp>
    </p:spTree>
    <p:extLst>
      <p:ext uri="{BB962C8B-B14F-4D97-AF65-F5344CB8AC3E}">
        <p14:creationId xmlns:p14="http://schemas.microsoft.com/office/powerpoint/2010/main" val="24412370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B20BE5-EF61-4600-B247-60657EAF1BA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 / CLIENT BRIEF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AD21B7-AA69-43EA-B4D5-A29032EADF2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Why BlastPro exists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C25CE-A026-4958-8445-FA0F22EEA5F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364A7F-1E5E-4F1E-972A-11BF5553FF6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6D5443-8F2E-4B88-A225-505F37FD7EE9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AB711-AE41-4219-822B-1A605C4B903C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822AC5-F2EC-4A54-883C-E9BF9336D8E4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953000" cy="1733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Xploma designs blasts using spreadsheets, reference books and manual calculations.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35A3F2-665D-4C85-B3AF-9C569429CF63}"/>
              </a:ext>
            </a:extLst>
          </p:cNvPr>
          <p:cNvSpPr>
            <a:spLocks noGrp="1"/>
          </p:cNvSpPr>
          <p:nvPr/>
        </p:nvSpPr>
        <p:spPr>
          <a:xfrm>
            <a:off x="6048375" y="1866900"/>
            <a:ext cx="19050" cy="3429000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DD09C-17F3-453A-8F4E-C291D7C1C570}"/>
              </a:ext>
            </a:extLst>
          </p:cNvPr>
          <p:cNvSpPr>
            <a:spLocks noGrp="1"/>
          </p:cNvSpPr>
          <p:nvPr/>
        </p:nvSpPr>
        <p:spPr>
          <a:xfrm>
            <a:off x="6486525" y="18669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4AEBD6-EF1E-4BA7-AC6D-3227717D8CEA}"/>
              </a:ext>
            </a:extLst>
          </p:cNvPr>
          <p:cNvSpPr>
            <a:spLocks noGrp="1"/>
          </p:cNvSpPr>
          <p:nvPr/>
        </p:nvSpPr>
        <p:spPr>
          <a:xfrm>
            <a:off x="6486525" y="2476500"/>
            <a:ext cx="4953000" cy="1733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One system for project planning, saved calculations, warnings and field observations.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9B05B0-ADFE-4EE8-89E2-72A735868CB2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0763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Past projects become easier to find, review and audit.</a:t>
            </a:r>
          </a:p>
        </p:txBody>
      </p:sp>
    </p:spTree>
    <p:extLst>
      <p:ext uri="{BB962C8B-B14F-4D97-AF65-F5344CB8AC3E}">
        <p14:creationId xmlns:p14="http://schemas.microsoft.com/office/powerpoint/2010/main" val="120209389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566C35E-0FFD-4905-929E-3B7CEE63635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 / CLIENT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EEA600-B2EF-4707-8E35-BB58FB9AD0D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Business process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9DEFB4-4E25-4805-9033-95B7DBEB18A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8E93E-CB3D-483C-96F0-AE58F4DF5F8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7C2F8E-43AC-453B-A62A-1FB5A4499D76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BF27A8-1905-4218-98C2-1317937D9B7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18D76-6F26-46DA-AE60-1CE62A95C4EC}"/>
              </a:ext>
            </a:extLst>
          </p:cNvPr>
          <p:cNvSpPr>
            <a:spLocks noGrp="1"/>
          </p:cNvSpPr>
          <p:nvPr/>
        </p:nvSpPr>
        <p:spPr>
          <a:xfrm>
            <a:off x="752475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07780-91A2-48DF-A185-8A74A2BF400E}"/>
              </a:ext>
            </a:extLst>
          </p:cNvPr>
          <p:cNvSpPr>
            <a:spLocks noGrp="1"/>
          </p:cNvSpPr>
          <p:nvPr/>
        </p:nvSpPr>
        <p:spPr>
          <a:xfrm>
            <a:off x="752475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Client request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516280-A440-4449-89B3-F245AE3532E9}"/>
              </a:ext>
            </a:extLst>
          </p:cNvPr>
          <p:cNvSpPr>
            <a:spLocks noGrp="1"/>
          </p:cNvSpPr>
          <p:nvPr/>
        </p:nvSpPr>
        <p:spPr>
          <a:xfrm>
            <a:off x="2181225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D5CAE-6BAE-4C75-A1A6-8D9FED5A0D1E}"/>
              </a:ext>
            </a:extLst>
          </p:cNvPr>
          <p:cNvSpPr>
            <a:spLocks noGrp="1"/>
          </p:cNvSpPr>
          <p:nvPr/>
        </p:nvSpPr>
        <p:spPr>
          <a:xfrm>
            <a:off x="2324100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219F2-06DD-4A0B-8113-5ABCAB61A397}"/>
              </a:ext>
            </a:extLst>
          </p:cNvPr>
          <p:cNvSpPr>
            <a:spLocks noGrp="1"/>
          </p:cNvSpPr>
          <p:nvPr/>
        </p:nvSpPr>
        <p:spPr>
          <a:xfrm>
            <a:off x="2324100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Site survey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C1DF19-59E7-4B01-B69E-2D77DFCBD68D}"/>
              </a:ext>
            </a:extLst>
          </p:cNvPr>
          <p:cNvSpPr>
            <a:spLocks noGrp="1"/>
          </p:cNvSpPr>
          <p:nvPr/>
        </p:nvSpPr>
        <p:spPr>
          <a:xfrm>
            <a:off x="3752850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AA8168-72C1-4851-BCAB-900E0903112E}"/>
              </a:ext>
            </a:extLst>
          </p:cNvPr>
          <p:cNvSpPr>
            <a:spLocks noGrp="1"/>
          </p:cNvSpPr>
          <p:nvPr/>
        </p:nvSpPr>
        <p:spPr>
          <a:xfrm>
            <a:off x="3895725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77F609-8ABE-421C-92B5-EAAD8B4456CB}"/>
              </a:ext>
            </a:extLst>
          </p:cNvPr>
          <p:cNvSpPr>
            <a:spLocks noGrp="1"/>
          </p:cNvSpPr>
          <p:nvPr/>
        </p:nvSpPr>
        <p:spPr>
          <a:xfrm>
            <a:off x="3895725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Design and quotation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A6EE8D-3A19-4412-8E61-9003B2CE5454}"/>
              </a:ext>
            </a:extLst>
          </p:cNvPr>
          <p:cNvSpPr>
            <a:spLocks noGrp="1"/>
          </p:cNvSpPr>
          <p:nvPr/>
        </p:nvSpPr>
        <p:spPr>
          <a:xfrm>
            <a:off x="5324475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CEE5EB-C0BF-4053-8185-695696D2ECEE}"/>
              </a:ext>
            </a:extLst>
          </p:cNvPr>
          <p:cNvSpPr>
            <a:spLocks noGrp="1"/>
          </p:cNvSpPr>
          <p:nvPr/>
        </p:nvSpPr>
        <p:spPr>
          <a:xfrm>
            <a:off x="5467350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A22F6B-D9C0-44F8-94D2-8232B7590760}"/>
              </a:ext>
            </a:extLst>
          </p:cNvPr>
          <p:cNvSpPr>
            <a:spLocks noGrp="1"/>
          </p:cNvSpPr>
          <p:nvPr/>
        </p:nvSpPr>
        <p:spPr>
          <a:xfrm>
            <a:off x="5467350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Permit application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03E11C0-3D6C-48E8-A638-F3B28E064325}"/>
              </a:ext>
            </a:extLst>
          </p:cNvPr>
          <p:cNvSpPr>
            <a:spLocks noGrp="1"/>
          </p:cNvSpPr>
          <p:nvPr/>
        </p:nvSpPr>
        <p:spPr>
          <a:xfrm>
            <a:off x="6896100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9B163-CDBB-494D-9099-5E0E4F68C78C}"/>
              </a:ext>
            </a:extLst>
          </p:cNvPr>
          <p:cNvSpPr>
            <a:spLocks noGrp="1"/>
          </p:cNvSpPr>
          <p:nvPr/>
        </p:nvSpPr>
        <p:spPr>
          <a:xfrm>
            <a:off x="7038975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4CEE7F-CD1D-4C77-B39C-2B3D4D5CEC87}"/>
              </a:ext>
            </a:extLst>
          </p:cNvPr>
          <p:cNvSpPr>
            <a:spLocks noGrp="1"/>
          </p:cNvSpPr>
          <p:nvPr/>
        </p:nvSpPr>
        <p:spPr>
          <a:xfrm>
            <a:off x="7038975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Drilling and charging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1ADB50-0C62-4434-AA6A-E0CE3497D3BF}"/>
              </a:ext>
            </a:extLst>
          </p:cNvPr>
          <p:cNvSpPr>
            <a:spLocks noGrp="1"/>
          </p:cNvSpPr>
          <p:nvPr/>
        </p:nvSpPr>
        <p:spPr>
          <a:xfrm>
            <a:off x="8467725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78083C-C674-4F5D-9DD0-0AF5F3E38AAF}"/>
              </a:ext>
            </a:extLst>
          </p:cNvPr>
          <p:cNvSpPr>
            <a:spLocks noGrp="1"/>
          </p:cNvSpPr>
          <p:nvPr/>
        </p:nvSpPr>
        <p:spPr>
          <a:xfrm>
            <a:off x="8610600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D95D7-128D-4801-BB64-972AF913C656}"/>
              </a:ext>
            </a:extLst>
          </p:cNvPr>
          <p:cNvSpPr>
            <a:spLocks noGrp="1"/>
          </p:cNvSpPr>
          <p:nvPr/>
        </p:nvSpPr>
        <p:spPr>
          <a:xfrm>
            <a:off x="8610600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Blast execution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4A7EFB-03C3-485C-8D34-402D1C6D6A81}"/>
              </a:ext>
            </a:extLst>
          </p:cNvPr>
          <p:cNvSpPr>
            <a:spLocks noGrp="1"/>
          </p:cNvSpPr>
          <p:nvPr/>
        </p:nvSpPr>
        <p:spPr>
          <a:xfrm>
            <a:off x="10039350" y="1809750"/>
            <a:ext cx="14478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B8E2A1-58F4-4158-B563-32D97F17C80D}"/>
              </a:ext>
            </a:extLst>
          </p:cNvPr>
          <p:cNvSpPr>
            <a:spLocks noGrp="1"/>
          </p:cNvSpPr>
          <p:nvPr/>
        </p:nvSpPr>
        <p:spPr>
          <a:xfrm>
            <a:off x="10182225" y="19621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4149A9-14F6-481D-AD08-7D2A322BBA8B}"/>
              </a:ext>
            </a:extLst>
          </p:cNvPr>
          <p:cNvSpPr>
            <a:spLocks noGrp="1"/>
          </p:cNvSpPr>
          <p:nvPr/>
        </p:nvSpPr>
        <p:spPr>
          <a:xfrm>
            <a:off x="10182225" y="2314575"/>
            <a:ext cx="1162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Post-blast inspection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97F1D3-C256-4877-8D15-3198AE61E61D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A70685-16DF-415C-90A1-7BCC5F5F8302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B15146-A1D4-426C-9D13-4D67CD6C25E9}"/>
              </a:ext>
            </a:extLst>
          </p:cNvPr>
          <p:cNvSpPr>
            <a:spLocks noGrp="1"/>
          </p:cNvSpPr>
          <p:nvPr/>
        </p:nvSpPr>
        <p:spPr>
          <a:xfrm>
            <a:off x="1238250" y="3609975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Manual calculations take time and can introduce errors.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39061-1E74-4418-B809-E2AB838172B5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892690-0971-401B-8EF3-B4F5898D4E15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Projects are planned from scratch with little reuse of past results.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42E15A-942F-45B0-BFB4-072F54324D95}"/>
              </a:ext>
            </a:extLst>
          </p:cNvPr>
          <p:cNvSpPr>
            <a:spLocks noGrp="1"/>
          </p:cNvSpPr>
          <p:nvPr/>
        </p:nvSpPr>
        <p:spPr>
          <a:xfrm>
            <a:off x="647700" y="5133975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49DD57-2E63-4BA3-AEC3-DBE53187622F}"/>
              </a:ext>
            </a:extLst>
          </p:cNvPr>
          <p:cNvSpPr>
            <a:spLocks noGrp="1"/>
          </p:cNvSpPr>
          <p:nvPr/>
        </p:nvSpPr>
        <p:spPr>
          <a:xfrm>
            <a:off x="1238250" y="5114925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Scattered records make later review and auditing difficult.</a:t>
            </a:r>
          </a:p>
        </p:txBody>
      </p:sp>
    </p:spTree>
    <p:extLst>
      <p:ext uri="{BB962C8B-B14F-4D97-AF65-F5344CB8AC3E}">
        <p14:creationId xmlns:p14="http://schemas.microsoft.com/office/powerpoint/2010/main" val="15559769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6121DC1-B26A-451F-941D-1EC7470C092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 / PRODUCT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C51E9-A7D0-4735-9B88-7ECABE09AED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Web design and Android field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17D0ED-3B56-4796-9F09-DF1E1C03857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99BA0-8D3E-4422-9DDD-3228C242046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CE0ED-50C0-4D4D-B460-55AA671025E9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A0EAB1-B705-41EB-BAAF-56FD7ECFE8E4}"/>
              </a:ext>
            </a:extLst>
          </p:cNvPr>
          <p:cNvSpPr>
            <a:spLocks noGrp="1"/>
          </p:cNvSpPr>
          <p:nvPr/>
        </p:nvSpPr>
        <p:spPr>
          <a:xfrm>
            <a:off x="619125" y="1828800"/>
            <a:ext cx="5276850" cy="3781425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38DCF-68C8-4E9B-8AF4-DE4D1E98635F}"/>
              </a:ext>
            </a:extLst>
          </p:cNvPr>
          <p:cNvSpPr>
            <a:spLocks noGrp="1"/>
          </p:cNvSpPr>
          <p:nvPr/>
        </p:nvSpPr>
        <p:spPr>
          <a:xfrm>
            <a:off x="619125" y="1828800"/>
            <a:ext cx="5276850" cy="57150"/>
          </a:xfrm>
          <a:prstGeom prst="rect">
            <a:avLst/>
          </a:prstGeom>
          <a:solidFill>
            <a:srgbClr val="ED252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76C23B-2143-47B2-BE07-B3EE8868B48C}"/>
              </a:ext>
            </a:extLst>
          </p:cNvPr>
          <p:cNvSpPr>
            <a:spLocks noGrp="1"/>
          </p:cNvSpPr>
          <p:nvPr/>
        </p:nvSpPr>
        <p:spPr>
          <a:xfrm>
            <a:off x="866775" y="2143125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WEB +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973F6-2CDF-48EA-B109-594151CD8ACD}"/>
              </a:ext>
            </a:extLst>
          </p:cNvPr>
          <p:cNvSpPr>
            <a:spLocks noGrp="1"/>
          </p:cNvSpPr>
          <p:nvPr/>
        </p:nvSpPr>
        <p:spPr>
          <a:xfrm>
            <a:off x="866775" y="2819400"/>
            <a:ext cx="4667250" cy="2324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 a company and sign in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Manage Blasters, products and prices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 and find projects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Design holes and save drafts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Calculate totals, PPV and flyrock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Review results and warnings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AF3286-4DA5-41A6-823F-78FB353DB1BF}"/>
              </a:ext>
            </a:extLst>
          </p:cNvPr>
          <p:cNvSpPr>
            <a:spLocks noGrp="1"/>
          </p:cNvSpPr>
          <p:nvPr/>
        </p:nvSpPr>
        <p:spPr>
          <a:xfrm>
            <a:off x="6267450" y="1828800"/>
            <a:ext cx="5276850" cy="3781425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83F17E-6D37-46B7-AF75-946E02A9BA11}"/>
              </a:ext>
            </a:extLst>
          </p:cNvPr>
          <p:cNvSpPr>
            <a:spLocks noGrp="1"/>
          </p:cNvSpPr>
          <p:nvPr/>
        </p:nvSpPr>
        <p:spPr>
          <a:xfrm>
            <a:off x="6267450" y="1828800"/>
            <a:ext cx="5276850" cy="57150"/>
          </a:xfrm>
          <a:prstGeom prst="rect">
            <a:avLst/>
          </a:prstGeom>
          <a:solidFill>
            <a:srgbClr val="101316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0C9F07-1DF8-4E67-B8A6-B92B93F621D2}"/>
              </a:ext>
            </a:extLst>
          </p:cNvPr>
          <p:cNvSpPr>
            <a:spLocks noGrp="1"/>
          </p:cNvSpPr>
          <p:nvPr/>
        </p:nvSpPr>
        <p:spPr>
          <a:xfrm>
            <a:off x="6515100" y="2143125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C8AA0D-B0B9-43DC-B01B-A0853D1A88D7}"/>
              </a:ext>
            </a:extLst>
          </p:cNvPr>
          <p:cNvSpPr>
            <a:spLocks noGrp="1"/>
          </p:cNvSpPr>
          <p:nvPr/>
        </p:nvSpPr>
        <p:spPr>
          <a:xfrm>
            <a:off x="6515100" y="2819400"/>
            <a:ext cx="4676775" cy="2324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4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Sign in to an existing account</a:t>
            </a:r>
          </a:p>
          <a:p>
            <a:pPr algn="l">
              <a:lnSpc>
                <a:spcPct val="134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Open or create shared projects</a:t>
            </a:r>
          </a:p>
          <a:p>
            <a:pPr algn="l">
              <a:lnSpc>
                <a:spcPct val="134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Add project notes and comments</a:t>
            </a:r>
          </a:p>
          <a:p>
            <a:pPr algn="l">
              <a:lnSpc>
                <a:spcPct val="134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Attach photos from the field</a:t>
            </a:r>
          </a:p>
          <a:p>
            <a:pPr algn="l">
              <a:lnSpc>
                <a:spcPct val="134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View the same project on the web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49D86D-89B1-4149-93A5-02ECC5C4EFA0}"/>
              </a:ext>
            </a:extLst>
          </p:cNvPr>
          <p:cNvSpPr>
            <a:spLocks noGrp="1"/>
          </p:cNvSpPr>
          <p:nvPr/>
        </p:nvSpPr>
        <p:spPr>
          <a:xfrm>
            <a:off x="638175" y="57912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Calculation and account creation stay on the web.</a:t>
            </a:r>
          </a:p>
        </p:txBody>
      </p:sp>
    </p:spTree>
    <p:extLst>
      <p:ext uri="{BB962C8B-B14F-4D97-AF65-F5344CB8AC3E}">
        <p14:creationId xmlns:p14="http://schemas.microsoft.com/office/powerpoint/2010/main" val="865221882"/>
      </p:ext>
    </p:extLst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38ED990-EC34-4901-AE60-61833A19C66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04 /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61850-339D-49B9-9C96-44E1255D096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One API connects every surface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159B67-5ED1-46B7-838F-F735635A0CE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34676-B8A6-4AF3-BB5E-9D3F1D60A0C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16C04-14D6-47C5-85C2-5FF0784F9AF4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099E83-C770-4A64-BA8E-E430A39E8D4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5336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951DFB-B258-4291-8CBE-69BC6C6A778B}"/>
              </a:ext>
            </a:extLst>
          </p:cNvPr>
          <p:cNvSpPr>
            <a:spLocks noGrp="1"/>
          </p:cNvSpPr>
          <p:nvPr/>
        </p:nvSpPr>
        <p:spPr>
          <a:xfrm>
            <a:off x="809625" y="2085975"/>
            <a:ext cx="2133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Web browser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9E50F3-7615-4A52-9D8D-332002F2F8FB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2133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MVC pages + cookie session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2A1DF1-572A-4B53-85E0-9419A129FF72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25336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0D00BA-663D-4A4F-BF2C-D8429F5FA434}"/>
              </a:ext>
            </a:extLst>
          </p:cNvPr>
          <p:cNvSpPr>
            <a:spLocks noGrp="1"/>
          </p:cNvSpPr>
          <p:nvPr/>
        </p:nvSpPr>
        <p:spPr>
          <a:xfrm>
            <a:off x="809625" y="4143375"/>
            <a:ext cx="2133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Android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4CE6EA-30FA-4D85-A7CE-06378C853E63}"/>
              </a:ext>
            </a:extLst>
          </p:cNvPr>
          <p:cNvSpPr>
            <a:spLocks noGrp="1"/>
          </p:cNvSpPr>
          <p:nvPr/>
        </p:nvSpPr>
        <p:spPr>
          <a:xfrm>
            <a:off x="809625" y="4657725"/>
            <a:ext cx="2133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Kotlin + account sign-in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DB6AD-E07C-4D29-A5CE-93A19CC19C32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30670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57CCB-52AC-4621-8833-5212BEE1FB2F}"/>
              </a:ext>
            </a:extLst>
          </p:cNvPr>
          <p:cNvSpPr>
            <a:spLocks noGrp="1"/>
          </p:cNvSpPr>
          <p:nvPr/>
        </p:nvSpPr>
        <p:spPr>
          <a:xfrm>
            <a:off x="4772025" y="3133725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BlastPro 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42CA6-13D8-4A27-88C6-61896AACBFBC}"/>
              </a:ext>
            </a:extLst>
          </p:cNvPr>
          <p:cNvSpPr>
            <a:spLocks noGrp="1"/>
          </p:cNvSpPr>
          <p:nvPr/>
        </p:nvSpPr>
        <p:spPr>
          <a:xfrm>
            <a:off x="4772025" y="3648075"/>
            <a:ext cx="2667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JWT · Identity · business rules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BEBCBB-5420-4370-A565-A0BA474CE6FF}"/>
              </a:ext>
            </a:extLst>
          </p:cNvPr>
          <p:cNvSpPr>
            <a:spLocks noGrp="1"/>
          </p:cNvSpPr>
          <p:nvPr/>
        </p:nvSpPr>
        <p:spPr>
          <a:xfrm>
            <a:off x="8934450" y="3000375"/>
            <a:ext cx="260985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854A46-D708-4A30-8210-BEA7C05F0430}"/>
              </a:ext>
            </a:extLst>
          </p:cNvPr>
          <p:cNvSpPr>
            <a:spLocks noGrp="1"/>
          </p:cNvSpPr>
          <p:nvPr/>
        </p:nvSpPr>
        <p:spPr>
          <a:xfrm>
            <a:off x="9134475" y="3133725"/>
            <a:ext cx="2209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F5F98E-145E-479A-BB56-8DD9F770D478}"/>
              </a:ext>
            </a:extLst>
          </p:cNvPr>
          <p:cNvSpPr>
            <a:spLocks noGrp="1"/>
          </p:cNvSpPr>
          <p:nvPr/>
        </p:nvSpPr>
        <p:spPr>
          <a:xfrm>
            <a:off x="9134475" y="3648075"/>
            <a:ext cx="2209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EF Core · migrations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DB7798-082F-4BD1-81F1-BEBB9DC619AE}"/>
              </a:ext>
            </a:extLst>
          </p:cNvPr>
          <p:cNvSpPr>
            <a:spLocks noGrp="1"/>
          </p:cNvSpPr>
          <p:nvPr/>
        </p:nvSpPr>
        <p:spPr>
          <a:xfrm>
            <a:off x="3390900" y="2990850"/>
            <a:ext cx="8763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4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AE005D-DA07-48FD-B9C1-D0F089751BB6}"/>
              </a:ext>
            </a:extLst>
          </p:cNvPr>
          <p:cNvSpPr>
            <a:spLocks noGrp="1"/>
          </p:cNvSpPr>
          <p:nvPr/>
        </p:nvSpPr>
        <p:spPr>
          <a:xfrm>
            <a:off x="3390900" y="4124325"/>
            <a:ext cx="8763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4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3322E7-12DF-44D2-AF4A-71488538F7CF}"/>
              </a:ext>
            </a:extLst>
          </p:cNvPr>
          <p:cNvSpPr>
            <a:spLocks noGrp="1"/>
          </p:cNvSpPr>
          <p:nvPr/>
        </p:nvSpPr>
        <p:spPr>
          <a:xfrm>
            <a:off x="7848600" y="3371850"/>
            <a:ext cx="809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44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07AC0-36BC-43C1-84AB-E1AAB6C31E88}"/>
              </a:ext>
            </a:extLst>
          </p:cNvPr>
          <p:cNvSpPr>
            <a:spLocks noGrp="1"/>
          </p:cNvSpPr>
          <p:nvPr/>
        </p:nvSpPr>
        <p:spPr>
          <a:xfrm>
            <a:off x="619125" y="54483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MVC calls the API; the database is accessed through the API.</a:t>
            </a:r>
          </a:p>
        </p:txBody>
      </p:sp>
    </p:spTree>
    <p:extLst>
      <p:ext uri="{BB962C8B-B14F-4D97-AF65-F5344CB8AC3E}">
        <p14:creationId xmlns:p14="http://schemas.microsoft.com/office/powerpoint/2010/main" val="209759783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5789DEF-5482-4E57-8A5C-18D00FF4250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05 / 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31897D-E54B-45F7-B2EF-44DB2190570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Implementation tools and purpose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C5714D-D03E-4DA0-AE5F-39607C18534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66ABF-9CF8-4FF7-BA53-CCCD77D1426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B6B43-0F9B-448F-B872-E3261989AB2F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6B18E-0AE2-4969-A3FB-286E287E9C2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77E13B-8A48-4535-8428-E34E144DE81C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1752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FRONT 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15229C-D797-4DA4-BD68-5EC3993D566A}"/>
              </a:ext>
            </a:extLst>
          </p:cNvPr>
          <p:cNvSpPr>
            <a:spLocks noGrp="1"/>
          </p:cNvSpPr>
          <p:nvPr/>
        </p:nvSpPr>
        <p:spPr>
          <a:xfrm>
            <a:off x="2381250" y="1695450"/>
            <a:ext cx="4038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ASP.NET Core MVC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5B6E07-0942-473A-8BF6-847CCF4BE84F}"/>
              </a:ext>
            </a:extLst>
          </p:cNvPr>
          <p:cNvSpPr>
            <a:spLocks noGrp="1"/>
          </p:cNvSpPr>
          <p:nvPr/>
        </p:nvSpPr>
        <p:spPr>
          <a:xfrm>
            <a:off x="6553200" y="1685925"/>
            <a:ext cx="48672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Razor views, cookies, HTTPS API calls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1BA6A-0742-4C9A-9B83-6DFE6AEC615D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74964A-B220-4F25-B913-FD0301F33E09}"/>
              </a:ext>
            </a:extLst>
          </p:cNvPr>
          <p:cNvSpPr>
            <a:spLocks noGrp="1"/>
          </p:cNvSpPr>
          <p:nvPr/>
        </p:nvSpPr>
        <p:spPr>
          <a:xfrm>
            <a:off x="628650" y="2486025"/>
            <a:ext cx="1752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BACK 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C96D0-5A55-43C4-83C1-7CFDB9B29196}"/>
              </a:ext>
            </a:extLst>
          </p:cNvPr>
          <p:cNvSpPr>
            <a:spLocks noGrp="1"/>
          </p:cNvSpPr>
          <p:nvPr/>
        </p:nvSpPr>
        <p:spPr>
          <a:xfrm>
            <a:off x="2381250" y="2466975"/>
            <a:ext cx="4038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ASP.NET Core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51E96B-2522-4039-8E7C-A6A1C3A5FC62}"/>
              </a:ext>
            </a:extLst>
          </p:cNvPr>
          <p:cNvSpPr>
            <a:spLocks noGrp="1"/>
          </p:cNvSpPr>
          <p:nvPr/>
        </p:nvSpPr>
        <p:spPr>
          <a:xfrm>
            <a:off x="6553200" y="2457450"/>
            <a:ext cx="48672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Identity, JWT, business rules, Swagger in Development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0D6569-DF59-43CD-806C-44A8F076CB7E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EF4434-C2C5-46BB-B62E-62742AAD0795}"/>
              </a:ext>
            </a:extLst>
          </p:cNvPr>
          <p:cNvSpPr>
            <a:spLocks noGrp="1"/>
          </p:cNvSpPr>
          <p:nvPr/>
        </p:nvSpPr>
        <p:spPr>
          <a:xfrm>
            <a:off x="628650" y="3257550"/>
            <a:ext cx="1752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EDED6D-CE27-45F7-9F88-1C44B3B50161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4038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SQL Server + EF 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243B6-6D33-456A-AF8D-A3F9DE4DA276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8672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LocalDB for development; Azure SQL for the live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38AE67-316E-4DF2-AF07-0817BD0526DB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641C7A-3B5B-42CD-9615-A4AD7B1C9964}"/>
              </a:ext>
            </a:extLst>
          </p:cNvPr>
          <p:cNvSpPr>
            <a:spLocks noGrp="1"/>
          </p:cNvSpPr>
          <p:nvPr/>
        </p:nvSpPr>
        <p:spPr>
          <a:xfrm>
            <a:off x="628650" y="4029075"/>
            <a:ext cx="1752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54089A-4873-458F-B3DF-735A0655E4D5}"/>
              </a:ext>
            </a:extLst>
          </p:cNvPr>
          <p:cNvSpPr>
            <a:spLocks noGrp="1"/>
          </p:cNvSpPr>
          <p:nvPr/>
        </p:nvSpPr>
        <p:spPr>
          <a:xfrm>
            <a:off x="2381250" y="4010025"/>
            <a:ext cx="4038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Kotlin + Android Studio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6C958-79D9-42C0-BE61-88F977F3E4FC}"/>
              </a:ext>
            </a:extLst>
          </p:cNvPr>
          <p:cNvSpPr>
            <a:spLocks noGrp="1"/>
          </p:cNvSpPr>
          <p:nvPr/>
        </p:nvSpPr>
        <p:spPr>
          <a:xfrm>
            <a:off x="6553200" y="4000500"/>
            <a:ext cx="48672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Projects, notes, comments and photos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ABF35E-8FFB-412F-88EB-27A510103445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F1224-C654-4387-AB3D-4C5FCC4941DB}"/>
              </a:ext>
            </a:extLst>
          </p:cNvPr>
          <p:cNvSpPr>
            <a:spLocks noGrp="1"/>
          </p:cNvSpPr>
          <p:nvPr/>
        </p:nvSpPr>
        <p:spPr>
          <a:xfrm>
            <a:off x="628650" y="4800600"/>
            <a:ext cx="1752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3CF317-56BF-4150-9432-8120D09A57DB}"/>
              </a:ext>
            </a:extLst>
          </p:cNvPr>
          <p:cNvSpPr>
            <a:spLocks noGrp="1"/>
          </p:cNvSpPr>
          <p:nvPr/>
        </p:nvSpPr>
        <p:spPr>
          <a:xfrm>
            <a:off x="2381250" y="4781550"/>
            <a:ext cx="4038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BlastPro.Tests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C5E60D-A786-4923-A6E0-2D91B8E4BFCE}"/>
              </a:ext>
            </a:extLst>
          </p:cNvPr>
          <p:cNvSpPr>
            <a:spLocks noGrp="1"/>
          </p:cNvSpPr>
          <p:nvPr/>
        </p:nvSpPr>
        <p:spPr>
          <a:xfrm>
            <a:off x="6553200" y="4772025"/>
            <a:ext cx="48672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Unit, integration and end-to-end tests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1F4C74-7B9F-4459-BAB0-DA90F3D5A2DE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F8374C-5D9E-4C95-BC66-C49856854D30}"/>
              </a:ext>
            </a:extLst>
          </p:cNvPr>
          <p:cNvSpPr>
            <a:spLocks noGrp="1"/>
          </p:cNvSpPr>
          <p:nvPr/>
        </p:nvSpPr>
        <p:spPr>
          <a:xfrm>
            <a:off x="628650" y="5572125"/>
            <a:ext cx="1752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A44F27-2D68-45AF-A62F-EFFC034AA618}"/>
              </a:ext>
            </a:extLst>
          </p:cNvPr>
          <p:cNvSpPr>
            <a:spLocks noGrp="1"/>
          </p:cNvSpPr>
          <p:nvPr/>
        </p:nvSpPr>
        <p:spPr>
          <a:xfrm>
            <a:off x="2381250" y="5553075"/>
            <a:ext cx="4038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Visual Studio + GitHub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2E128F-74D3-4CF7-8E79-AE5D4CAD24A6}"/>
              </a:ext>
            </a:extLst>
          </p:cNvPr>
          <p:cNvSpPr>
            <a:spLocks noGrp="1"/>
          </p:cNvSpPr>
          <p:nvPr/>
        </p:nvSpPr>
        <p:spPr>
          <a:xfrm>
            <a:off x="6553200" y="5543550"/>
            <a:ext cx="48672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Local run, source control and review</a:t>
            </a:r>
          </a:p>
        </p:txBody>
      </p:sp>
    </p:spTree>
    <p:extLst>
      <p:ext uri="{BB962C8B-B14F-4D97-AF65-F5344CB8AC3E}">
        <p14:creationId xmlns:p14="http://schemas.microsoft.com/office/powerpoint/2010/main" val="1659694936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425A0A8-8D79-4C89-BA08-C8BF01A069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06 / USER ROLES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5884C2-BDEB-4CCF-A9E1-6D9926E4BA4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Company and project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3E44D1-D1C0-48A7-9311-43D61145FA3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20E80-8005-49BF-B032-A7785EAA3A6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F9CD6-7DFF-4B97-B792-949487E168BC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F67C0C-63F6-4781-A1A8-C7B6D5AA6517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267325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61A7C-7964-493D-B840-B337EBCAD3C3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267325" cy="57150"/>
          </a:xfrm>
          <a:prstGeom prst="rect">
            <a:avLst/>
          </a:prstGeom>
          <a:solidFill>
            <a:srgbClr val="ED252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6686A-5FD0-4238-BE6D-4166189FEBD6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4762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MAIN COMPANY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E9102-ED96-45A1-863F-E12C5D9016E1}"/>
              </a:ext>
            </a:extLst>
          </p:cNvPr>
          <p:cNvSpPr>
            <a:spLocks noGrp="1"/>
          </p:cNvSpPr>
          <p:nvPr/>
        </p:nvSpPr>
        <p:spPr>
          <a:xfrm>
            <a:off x="866775" y="2762250"/>
            <a:ext cx="4657725" cy="2133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Created with a new company</a:t>
            </a:r>
          </a:p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Manages company details and products</a:t>
            </a:r>
          </a:p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Creates, edits, deactivates and reactivates Blasters</a:t>
            </a:r>
          </a:p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Accesses company projects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7BE7CC-E36C-4AF9-ACE6-2702509209DF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5276850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C5729-9B8A-43CA-8658-6412658CD0E7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5276850" cy="57150"/>
          </a:xfrm>
          <a:prstGeom prst="rect">
            <a:avLst/>
          </a:prstGeom>
          <a:solidFill>
            <a:srgbClr val="101316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8A26FC-3491-47E9-824A-2866862262CE}"/>
              </a:ext>
            </a:extLst>
          </p:cNvPr>
          <p:cNvSpPr>
            <a:spLocks noGrp="1"/>
          </p:cNvSpPr>
          <p:nvPr/>
        </p:nvSpPr>
        <p:spPr>
          <a:xfrm>
            <a:off x="6505575" y="2152650"/>
            <a:ext cx="47434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BLASTER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0C35D9-5898-4F79-8C5B-2369FA056DBA}"/>
              </a:ext>
            </a:extLst>
          </p:cNvPr>
          <p:cNvSpPr>
            <a:spLocks noGrp="1"/>
          </p:cNvSpPr>
          <p:nvPr/>
        </p:nvSpPr>
        <p:spPr>
          <a:xfrm>
            <a:off x="6505575" y="2762250"/>
            <a:ext cx="4695825" cy="2133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Created by a Main Company User</a:t>
            </a:r>
          </a:p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Works with own projects only</a:t>
            </a:r>
          </a:p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Can edit permitted profile details</a:t>
            </a:r>
          </a:p>
          <a:p>
            <a:pPr algn="l">
              <a:lnSpc>
                <a:spcPct val="132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Company has at most five active Blasters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8C1058-657A-4526-BC23-B965AB59183A}"/>
              </a:ext>
            </a:extLst>
          </p:cNvPr>
          <p:cNvSpPr>
            <a:spLocks noGrp="1"/>
          </p:cNvSpPr>
          <p:nvPr/>
        </p:nvSpPr>
        <p:spPr>
          <a:xfrm>
            <a:off x="628650" y="5543550"/>
            <a:ext cx="108870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The API enforces role, company, owner and account-state rules on every request.</a:t>
            </a:r>
          </a:p>
        </p:txBody>
      </p:sp>
    </p:spTree>
    <p:extLst>
      <p:ext uri="{BB962C8B-B14F-4D97-AF65-F5344CB8AC3E}">
        <p14:creationId xmlns:p14="http://schemas.microsoft.com/office/powerpoint/2010/main" val="157513741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6B42DB5-0E7B-4630-B478-6F5F3DA8890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07 / WEB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6C76B8-752D-4B8B-8CA8-ACDC5AAE136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Four stages from project to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2D094-632E-41F5-98A4-350AA3BC93E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8BC97-4A8A-46F4-BFD1-2AFFED57514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A2CAA-15CF-449C-B2E2-DA158CF5250F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57B3D5-9A30-4DBE-B446-1F3377894A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C38B2E-8ECF-498F-AB4F-AC9CA2007BA8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7905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ACBD74-6BBF-47F4-9AC0-D80BF1817DCD}"/>
              </a:ext>
            </a:extLst>
          </p:cNvPr>
          <p:cNvSpPr>
            <a:spLocks noGrp="1"/>
          </p:cNvSpPr>
          <p:nvPr/>
        </p:nvSpPr>
        <p:spPr>
          <a:xfrm>
            <a:off x="1543050" y="1819275"/>
            <a:ext cx="32480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D6C94-C652-4273-8222-BA387ED30E7F}"/>
              </a:ext>
            </a:extLst>
          </p:cNvPr>
          <p:cNvSpPr>
            <a:spLocks noGrp="1"/>
          </p:cNvSpPr>
          <p:nvPr/>
        </p:nvSpPr>
        <p:spPr>
          <a:xfrm>
            <a:off x="5105400" y="1819275"/>
            <a:ext cx="63055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Find or create a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DA7AC3-A912-4986-975E-41FCCB83D491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0C09A9-364F-49C1-BE30-30E63E22E895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7905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3467C-78BF-4D81-94AC-F5145306B3A1}"/>
              </a:ext>
            </a:extLst>
          </p:cNvPr>
          <p:cNvSpPr>
            <a:spLocks noGrp="1"/>
          </p:cNvSpPr>
          <p:nvPr/>
        </p:nvSpPr>
        <p:spPr>
          <a:xfrm>
            <a:off x="1543050" y="2847975"/>
            <a:ext cx="32480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Pattern design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1C534C-098E-42E4-A498-58053DC96D4D}"/>
              </a:ext>
            </a:extLst>
          </p:cNvPr>
          <p:cNvSpPr>
            <a:spLocks noGrp="1"/>
          </p:cNvSpPr>
          <p:nvPr/>
        </p:nvSpPr>
        <p:spPr>
          <a:xfrm>
            <a:off x="5105400" y="2847975"/>
            <a:ext cx="63055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Enter bench, site, hole and product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9A0186-137B-4081-AD2B-47D71B78609D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1AB28A-2484-4F5A-BEFF-0B4BAA2EB6B1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7905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B4F647-9DE1-4FCB-9E63-F64224D9B3F3}"/>
              </a:ext>
            </a:extLst>
          </p:cNvPr>
          <p:cNvSpPr>
            <a:spLocks noGrp="1"/>
          </p:cNvSpPr>
          <p:nvPr/>
        </p:nvSpPr>
        <p:spPr>
          <a:xfrm>
            <a:off x="1543050" y="3876675"/>
            <a:ext cx="32480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18B295-AC0A-4D4E-98BF-9523A5A0A4B9}"/>
              </a:ext>
            </a:extLst>
          </p:cNvPr>
          <p:cNvSpPr>
            <a:spLocks noGrp="1"/>
          </p:cNvSpPr>
          <p:nvPr/>
        </p:nvSpPr>
        <p:spPr>
          <a:xfrm>
            <a:off x="5105400" y="3876675"/>
            <a:ext cx="63055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Save calculations and inspect warnings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A8C645-C5EC-4ED1-BD44-CA3A439E0D3E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16880E-0C2C-4B15-A138-EDCA2BD4062F}"/>
              </a:ext>
            </a:extLst>
          </p:cNvPr>
          <p:cNvSpPr>
            <a:spLocks noGrp="1"/>
          </p:cNvSpPr>
          <p:nvPr/>
        </p:nvSpPr>
        <p:spPr>
          <a:xfrm>
            <a:off x="647700" y="4953000"/>
            <a:ext cx="7905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D1B056-EBB3-472F-B16C-6668835CCA97}"/>
              </a:ext>
            </a:extLst>
          </p:cNvPr>
          <p:cNvSpPr>
            <a:spLocks noGrp="1"/>
          </p:cNvSpPr>
          <p:nvPr/>
        </p:nvSpPr>
        <p:spPr>
          <a:xfrm>
            <a:off x="1543050" y="4905375"/>
            <a:ext cx="32480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166C1-0E7D-4947-82AA-7CD247CA9E36}"/>
              </a:ext>
            </a:extLst>
          </p:cNvPr>
          <p:cNvSpPr>
            <a:spLocks noGrp="1"/>
          </p:cNvSpPr>
          <p:nvPr/>
        </p:nvSpPr>
        <p:spPr>
          <a:xfrm>
            <a:off x="5105400" y="4905375"/>
            <a:ext cx="63055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Review saved result and print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9DE10-A72C-409C-96E7-960F7FB08CE4}"/>
              </a:ext>
            </a:extLst>
          </p:cNvPr>
          <p:cNvSpPr>
            <a:spLocks noGrp="1"/>
          </p:cNvSpPr>
          <p:nvPr/>
        </p:nvSpPr>
        <p:spPr>
          <a:xfrm>
            <a:off x="647700" y="5857875"/>
            <a:ext cx="10677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The live demo follows this same route.</a:t>
            </a:r>
          </a:p>
        </p:txBody>
      </p:sp>
    </p:spTree>
    <p:extLst>
      <p:ext uri="{BB962C8B-B14F-4D97-AF65-F5344CB8AC3E}">
        <p14:creationId xmlns:p14="http://schemas.microsoft.com/office/powerpoint/2010/main" val="1695711667"/>
      </p:ext>
    </p:extLst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98F509C-92CC-4286-BCB0-58C427769DE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08 /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AB07E-7844-49F6-B689-DDD0A63E0D3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Project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BC7904-64C4-49A5-8810-7EED7B0B534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E25D1-62DC-4C1D-928F-62F505AC45B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F6887-BE63-4FDA-A9AB-FD8F4F8CE7BA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01B4E-E948-4854-8268-FDF3DDEF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5991" y="1752600"/>
            <a:ext cx="7702468" cy="3733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B0E292-D18B-4712-B5BB-08F20888B991}"/>
              </a:ext>
            </a:extLst>
          </p:cNvPr>
          <p:cNvSpPr>
            <a:spLocks noGrp="1"/>
          </p:cNvSpPr>
          <p:nvPr/>
        </p:nvSpPr>
        <p:spPr>
          <a:xfrm>
            <a:off x="8667750" y="1781175"/>
            <a:ext cx="2590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692AFA-9C58-4262-AC28-1C70BDCE0D21}"/>
              </a:ext>
            </a:extLst>
          </p:cNvPr>
          <p:cNvSpPr>
            <a:spLocks noGrp="1"/>
          </p:cNvSpPr>
          <p:nvPr/>
        </p:nvSpPr>
        <p:spPr>
          <a:xfrm>
            <a:off x="8667750" y="2295525"/>
            <a:ext cx="25431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Search by project name.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A58C9-1FF6-4847-91DC-EB0C08973798}"/>
              </a:ext>
            </a:extLst>
          </p:cNvPr>
          <p:cNvSpPr>
            <a:spLocks noGrp="1"/>
          </p:cNvSpPr>
          <p:nvPr/>
        </p:nvSpPr>
        <p:spPr>
          <a:xfrm>
            <a:off x="8667750" y="3105150"/>
            <a:ext cx="2590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7FC7E0-5BB4-4C95-B0FD-382B06F2B7AC}"/>
              </a:ext>
            </a:extLst>
          </p:cNvPr>
          <p:cNvSpPr>
            <a:spLocks noGrp="1"/>
          </p:cNvSpPr>
          <p:nvPr/>
        </p:nvSpPr>
        <p:spPr>
          <a:xfrm>
            <a:off x="8667750" y="3619500"/>
            <a:ext cx="25431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Select project status.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DFB118-B3A8-4227-99F3-A7362CC20AA3}"/>
              </a:ext>
            </a:extLst>
          </p:cNvPr>
          <p:cNvSpPr>
            <a:spLocks noGrp="1"/>
          </p:cNvSpPr>
          <p:nvPr/>
        </p:nvSpPr>
        <p:spPr>
          <a:xfrm>
            <a:off x="8667750" y="4429125"/>
            <a:ext cx="2590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EEE7D-F4AC-404F-A7C0-917849659C90}"/>
              </a:ext>
            </a:extLst>
          </p:cNvPr>
          <p:cNvSpPr>
            <a:spLocks noGrp="1"/>
          </p:cNvSpPr>
          <p:nvPr/>
        </p:nvSpPr>
        <p:spPr>
          <a:xfrm>
            <a:off x="8667750" y="4943475"/>
            <a:ext cx="25431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Start a new design.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6FC978-36EA-4F1F-8FBA-B421C4CCD4B1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706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Screenshot from the teammate draft; the live demo uses the hosted app.</a:t>
            </a:r>
          </a:p>
        </p:txBody>
      </p:sp>
    </p:spTree>
    <p:extLst>
      <p:ext uri="{BB962C8B-B14F-4D97-AF65-F5344CB8AC3E}">
        <p14:creationId xmlns:p14="http://schemas.microsoft.com/office/powerpoint/2010/main" val="124548479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AA963EC-FD9F-4ECA-BA65-6EC5C28F227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09 / PATTERN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BB9F5-9137-43DD-83E1-5138EEC0D6B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Bench, hole and site 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3FD20-5111-4CAF-AD11-4B63718C889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FCFDD-0DE4-4599-B309-7F2EED86883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0EFD7-1285-4EAA-8223-05A018055225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B44036-2148-4F5A-BDDF-0C3100A2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000"/>
          <a:stretch/>
        </p:blipFill>
        <p:spPr>
          <a:xfrm>
            <a:off x="609600" y="1647825"/>
            <a:ext cx="7086600" cy="4476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2EEB9-862C-4D8D-9153-4F0D7F6AD5B0}"/>
              </a:ext>
            </a:extLst>
          </p:cNvPr>
          <p:cNvSpPr>
            <a:spLocks noGrp="1"/>
          </p:cNvSpPr>
          <p:nvPr/>
        </p:nvSpPr>
        <p:spPr>
          <a:xfrm>
            <a:off x="7981950" y="1743075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4B8A7C-0447-44E7-80B8-BEE8C565CB17}"/>
              </a:ext>
            </a:extLst>
          </p:cNvPr>
          <p:cNvSpPr>
            <a:spLocks noGrp="1"/>
          </p:cNvSpPr>
          <p:nvPr/>
        </p:nvSpPr>
        <p:spPr>
          <a:xfrm>
            <a:off x="8572500" y="1724025"/>
            <a:ext cx="27622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Bench length, width, rows and holes per row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F7AFB-CD6E-422B-95C6-4100C1024892}"/>
              </a:ext>
            </a:extLst>
          </p:cNvPr>
          <p:cNvSpPr>
            <a:spLocks noGrp="1"/>
          </p:cNvSpPr>
          <p:nvPr/>
        </p:nvSpPr>
        <p:spPr>
          <a:xfrm>
            <a:off x="7981950" y="2705100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7E5A6-8928-4B07-BFF4-399C11748FB4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7622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Rock type, density, burden and spacing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F0F9D-0FBE-4973-B636-8357B7EA8F56}"/>
              </a:ext>
            </a:extLst>
          </p:cNvPr>
          <p:cNvSpPr>
            <a:spLocks noGrp="1"/>
          </p:cNvSpPr>
          <p:nvPr/>
        </p:nvSpPr>
        <p:spPr>
          <a:xfrm>
            <a:off x="7981950" y="3667125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5942FE-3982-4C71-AC6D-78E4D8DDA58E}"/>
              </a:ext>
            </a:extLst>
          </p:cNvPr>
          <p:cNvSpPr>
            <a:spLocks noGrp="1"/>
          </p:cNvSpPr>
          <p:nvPr/>
        </p:nvSpPr>
        <p:spPr>
          <a:xfrm>
            <a:off x="8572500" y="3648075"/>
            <a:ext cx="27622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Vibration threshold and AECI product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D67C95-93CA-42B3-9511-C8FD82490E5C}"/>
              </a:ext>
            </a:extLst>
          </p:cNvPr>
          <p:cNvSpPr>
            <a:spLocks noGrp="1"/>
          </p:cNvSpPr>
          <p:nvPr/>
        </p:nvSpPr>
        <p:spPr>
          <a:xfrm>
            <a:off x="7981950" y="4629150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4CB161-0920-4497-AEE9-4128E1975D0B}"/>
              </a:ext>
            </a:extLst>
          </p:cNvPr>
          <p:cNvSpPr>
            <a:spLocks noGrp="1"/>
          </p:cNvSpPr>
          <p:nvPr/>
        </p:nvSpPr>
        <p:spPr>
          <a:xfrm>
            <a:off x="8572500" y="4610100"/>
            <a:ext cx="27622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Hole coordinates, depth and charge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8E37FC-43A6-4AC6-AF40-08C4F4198A44}"/>
              </a:ext>
            </a:extLst>
          </p:cNvPr>
          <p:cNvSpPr>
            <a:spLocks noGrp="1"/>
          </p:cNvSpPr>
          <p:nvPr/>
        </p:nvSpPr>
        <p:spPr>
          <a:xfrm>
            <a:off x="8001000" y="5629275"/>
            <a:ext cx="34385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Save as a draft or calculate after review.</a:t>
            </a:r>
          </a:p>
        </p:txBody>
      </p:sp>
    </p:spTree>
    <p:extLst>
      <p:ext uri="{BB962C8B-B14F-4D97-AF65-F5344CB8AC3E}">
        <p14:creationId xmlns:p14="http://schemas.microsoft.com/office/powerpoint/2010/main" val="321556450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5D754C-03EB-4F86-91CE-EB979731276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10 / PATTERN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7FECF-DC05-44AE-A2D8-531F6D0EFF5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Timing, calibration and editable holes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F5B9D-4566-414F-A55C-7DDCE7EC385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B6BC69-AD7A-4809-82D2-E3B702687EE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EAE48-72EB-4DAE-9CB5-71583F1ADDB6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7F4C7C-5DE4-4A91-8D83-E083FBED8D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00"/>
          <a:stretch/>
        </p:blipFill>
        <p:spPr>
          <a:xfrm>
            <a:off x="609600" y="1647825"/>
            <a:ext cx="7038975" cy="4476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7D048F-18C9-4371-AF8C-F0531EB13215}"/>
              </a:ext>
            </a:extLst>
          </p:cNvPr>
          <p:cNvSpPr>
            <a:spLocks noGrp="1"/>
          </p:cNvSpPr>
          <p:nvPr/>
        </p:nvSpPr>
        <p:spPr>
          <a:xfrm>
            <a:off x="7924800" y="1743075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BE551-D340-42D4-8128-25E5CD525FBF}"/>
              </a:ext>
            </a:extLst>
          </p:cNvPr>
          <p:cNvSpPr>
            <a:spLocks noGrp="1"/>
          </p:cNvSpPr>
          <p:nvPr/>
        </p:nvSpPr>
        <p:spPr>
          <a:xfrm>
            <a:off x="8515350" y="1724025"/>
            <a:ext cx="2886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Set delay sequence and interval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74179-32A5-434C-B047-F7A65FDE6570}"/>
              </a:ext>
            </a:extLst>
          </p:cNvPr>
          <p:cNvSpPr>
            <a:spLocks noGrp="1"/>
          </p:cNvSpPr>
          <p:nvPr/>
        </p:nvSpPr>
        <p:spPr>
          <a:xfrm>
            <a:off x="7924800" y="2705100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85F16-1008-4244-8081-F2E254F07E73}"/>
              </a:ext>
            </a:extLst>
          </p:cNvPr>
          <p:cNvSpPr>
            <a:spLocks noGrp="1"/>
          </p:cNvSpPr>
          <p:nvPr/>
        </p:nvSpPr>
        <p:spPr>
          <a:xfrm>
            <a:off x="8515350" y="2686050"/>
            <a:ext cx="2886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Enter charge grouping window and receptor distance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D871A5-E4FB-4E52-B00A-77F255C810C0}"/>
              </a:ext>
            </a:extLst>
          </p:cNvPr>
          <p:cNvSpPr>
            <a:spLocks noGrp="1"/>
          </p:cNvSpPr>
          <p:nvPr/>
        </p:nvSpPr>
        <p:spPr>
          <a:xfrm>
            <a:off x="7924800" y="3667125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D7C4A7-444F-4FFF-8710-24938B7A8410}"/>
              </a:ext>
            </a:extLst>
          </p:cNvPr>
          <p:cNvSpPr>
            <a:spLocks noGrp="1"/>
          </p:cNvSpPr>
          <p:nvPr/>
        </p:nvSpPr>
        <p:spPr>
          <a:xfrm>
            <a:off x="8515350" y="3648075"/>
            <a:ext cx="2886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Review PPV calibration and exclusion limit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A3E5BD-B24A-425F-9D16-645422A7324A}"/>
              </a:ext>
            </a:extLst>
          </p:cNvPr>
          <p:cNvSpPr>
            <a:spLocks noGrp="1"/>
          </p:cNvSpPr>
          <p:nvPr/>
        </p:nvSpPr>
        <p:spPr>
          <a:xfrm>
            <a:off x="7924800" y="4629150"/>
            <a:ext cx="552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D1130-9FFF-45A3-BD38-338010939F77}"/>
              </a:ext>
            </a:extLst>
          </p:cNvPr>
          <p:cNvSpPr>
            <a:spLocks noGrp="1"/>
          </p:cNvSpPr>
          <p:nvPr/>
        </p:nvSpPr>
        <p:spPr>
          <a:xfrm>
            <a:off x="8515350" y="4610100"/>
            <a:ext cx="2886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Edit a hole row for site-specific values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1519B-B12C-4DBA-9863-A53373ED83F9}"/>
              </a:ext>
            </a:extLst>
          </p:cNvPr>
          <p:cNvSpPr>
            <a:spLocks noGrp="1"/>
          </p:cNvSpPr>
          <p:nvPr/>
        </p:nvSpPr>
        <p:spPr>
          <a:xfrm>
            <a:off x="7943850" y="5657850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The live summary updates before saving a result.</a:t>
            </a:r>
          </a:p>
        </p:txBody>
      </p:sp>
    </p:spTree>
    <p:extLst>
      <p:ext uri="{BB962C8B-B14F-4D97-AF65-F5344CB8AC3E}">
        <p14:creationId xmlns:p14="http://schemas.microsoft.com/office/powerpoint/2010/main" val="1871674870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256B88E-35AC-4FBF-B056-4260B63BF19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11 / CALCULATIONS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4234CC-782F-4351-9CF9-FF66289D8EB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Saved results and warnings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02FCC-BBAC-488E-9BB1-B966901B8F8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22B91F-3C70-4A5F-8E2A-21739C5C6FA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4D23C-DDE0-47A8-AF2A-5D9D6469652A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1036C-CEF5-4D6A-B71A-CA996CF4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21140" y="1647825"/>
            <a:ext cx="6482670" cy="4495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06BFAE-4F63-4A70-BC5E-65C12B816D9A}"/>
              </a:ext>
            </a:extLst>
          </p:cNvPr>
          <p:cNvSpPr>
            <a:spLocks noGrp="1"/>
          </p:cNvSpPr>
          <p:nvPr/>
        </p:nvSpPr>
        <p:spPr>
          <a:xfrm>
            <a:off x="8791575" y="1733550"/>
            <a:ext cx="2628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9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925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4 holes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A4FC7-04CB-459E-80EE-D61F722595B8}"/>
              </a:ext>
            </a:extLst>
          </p:cNvPr>
          <p:cNvSpPr>
            <a:spLocks noGrp="1"/>
          </p:cNvSpPr>
          <p:nvPr/>
        </p:nvSpPr>
        <p:spPr>
          <a:xfrm>
            <a:off x="8791575" y="2495550"/>
            <a:ext cx="2628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2,036 kg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5A3658-9EEA-41B7-80A9-689E8126E61C}"/>
              </a:ext>
            </a:extLst>
          </p:cNvPr>
          <p:cNvSpPr>
            <a:spLocks noGrp="1"/>
          </p:cNvSpPr>
          <p:nvPr/>
        </p:nvSpPr>
        <p:spPr>
          <a:xfrm>
            <a:off x="8791575" y="3238500"/>
            <a:ext cx="26289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48 m drilled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8AD7DF-71D6-4E83-9209-5403BFD89E08}"/>
              </a:ext>
            </a:extLst>
          </p:cNvPr>
          <p:cNvSpPr>
            <a:spLocks noGrp="1"/>
          </p:cNvSpPr>
          <p:nvPr/>
        </p:nvSpPr>
        <p:spPr>
          <a:xfrm>
            <a:off x="8791575" y="4152900"/>
            <a:ext cx="2619375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D9C82-C8CD-4D6E-858D-4436574291EE}"/>
              </a:ext>
            </a:extLst>
          </p:cNvPr>
          <p:cNvSpPr>
            <a:spLocks noGrp="1"/>
          </p:cNvSpPr>
          <p:nvPr/>
        </p:nvSpPr>
        <p:spPr>
          <a:xfrm>
            <a:off x="8791575" y="4381500"/>
            <a:ext cx="2647950" cy="1343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Volume, tonnage, powder factor, PPV and flyrock are shown with warnings.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7E6BA-09BE-4791-BB3D-7AE1D9FB8BD2}"/>
              </a:ext>
            </a:extLst>
          </p:cNvPr>
          <p:cNvSpPr>
            <a:spLocks noGrp="1"/>
          </p:cNvSpPr>
          <p:nvPr/>
        </p:nvSpPr>
        <p:spPr>
          <a:xfrm>
            <a:off x="8791575" y="5743575"/>
            <a:ext cx="26574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Demo values only; cost needs fully priced products.</a:t>
            </a:r>
          </a:p>
        </p:txBody>
      </p:sp>
    </p:spTree>
    <p:extLst>
      <p:ext uri="{BB962C8B-B14F-4D97-AF65-F5344CB8AC3E}">
        <p14:creationId xmlns:p14="http://schemas.microsoft.com/office/powerpoint/2010/main" val="660403127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5F88B2-8083-41A0-8237-3C684F11EC6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12 /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E8DAF6-AFE1-4D80-BF26-6774555D172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Saved calculation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8587F-5667-44C4-BBC4-C999FB011F6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28E791-E32F-4919-9096-068FAE73FD6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8DF434-1575-4501-962A-2D402E316392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9DB1C-4795-4EC1-8C94-101B7536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000"/>
          <a:stretch/>
        </p:blipFill>
        <p:spPr>
          <a:xfrm>
            <a:off x="609600" y="1638300"/>
            <a:ext cx="6210300" cy="4476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517B4D-2653-4BF2-9665-11EFE7A64D47}"/>
              </a:ext>
            </a:extLst>
          </p:cNvPr>
          <p:cNvSpPr>
            <a:spLocks noGrp="1"/>
          </p:cNvSpPr>
          <p:nvPr/>
        </p:nvSpPr>
        <p:spPr>
          <a:xfrm>
            <a:off x="7315200" y="1743075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Report contents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99559-73FD-4100-96A4-806D34AE68F0}"/>
              </a:ext>
            </a:extLst>
          </p:cNvPr>
          <p:cNvSpPr>
            <a:spLocks noGrp="1"/>
          </p:cNvSpPr>
          <p:nvPr/>
        </p:nvSpPr>
        <p:spPr>
          <a:xfrm>
            <a:off x="7315200" y="2428875"/>
            <a:ext cx="40005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1000"/>
              </a:lnSpc>
              <a:buNone/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Project, user and date</a:t>
            </a:r>
          </a:p>
          <a:p>
            <a:pPr algn="l">
              <a:lnSpc>
                <a:spcPct val="131000"/>
              </a:lnSpc>
              <a:buNone/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Hole and calculated quantities</a:t>
            </a:r>
          </a:p>
          <a:p>
            <a:pPr algn="l">
              <a:lnSpc>
                <a:spcPct val="131000"/>
              </a:lnSpc>
              <a:buNone/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PPV and fly rock screening outputs</a:t>
            </a:r>
          </a:p>
          <a:p>
            <a:pPr algn="l">
              <a:lnSpc>
                <a:spcPct val="131000"/>
              </a:lnSpc>
              <a:buNone/>
              <a:defRPr sz="19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Warnings and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DD052-00D1-4979-BB21-834C06E689E5}"/>
              </a:ext>
            </a:extLst>
          </p:cNvPr>
          <p:cNvSpPr>
            <a:spLocks noGrp="1"/>
          </p:cNvSpPr>
          <p:nvPr/>
        </p:nvSpPr>
        <p:spPr>
          <a:xfrm>
            <a:off x="7315200" y="5057775"/>
            <a:ext cx="398145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9932391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22A9E92-4E46-45A0-BE7F-F7D732A548F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13 / ANDROID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34AEF-4FD8-4F6F-9AC6-205C8695039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Site notes and project photos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6DB0B-2097-4800-ADF6-FF5AFDEBA8CB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9A622-B359-42FB-A5CF-225D3D8F7F5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F5DE1-3107-4B2E-AF1B-8C5FFA8A9B25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58F53-39BD-42D4-9255-738B50947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38952" y="1666875"/>
            <a:ext cx="2284571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8B4E53-7325-4649-B420-EB26368C5413}"/>
              </a:ext>
            </a:extLst>
          </p:cNvPr>
          <p:cNvSpPr>
            <a:spLocks noGrp="1"/>
          </p:cNvSpPr>
          <p:nvPr/>
        </p:nvSpPr>
        <p:spPr>
          <a:xfrm>
            <a:off x="4505325" y="171450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B44141-F2CC-4D07-AFE0-36F2A4E1F691}"/>
              </a:ext>
            </a:extLst>
          </p:cNvPr>
          <p:cNvSpPr>
            <a:spLocks noGrp="1"/>
          </p:cNvSpPr>
          <p:nvPr/>
        </p:nvSpPr>
        <p:spPr>
          <a:xfrm>
            <a:off x="5276850" y="1714500"/>
            <a:ext cx="2143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E8830-02DC-44FB-8691-CCAC82FCDF17}"/>
              </a:ext>
            </a:extLst>
          </p:cNvPr>
          <p:cNvSpPr>
            <a:spLocks noGrp="1"/>
          </p:cNvSpPr>
          <p:nvPr/>
        </p:nvSpPr>
        <p:spPr>
          <a:xfrm>
            <a:off x="7524750" y="1714500"/>
            <a:ext cx="3857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Use a web-created account.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21514B-5649-46B4-907F-192B5F46F1F2}"/>
              </a:ext>
            </a:extLst>
          </p:cNvPr>
          <p:cNvSpPr>
            <a:spLocks noGrp="1"/>
          </p:cNvSpPr>
          <p:nvPr/>
        </p:nvSpPr>
        <p:spPr>
          <a:xfrm>
            <a:off x="4505325" y="27717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0F2572-D59F-47DD-9460-DFFEEBA2A273}"/>
              </a:ext>
            </a:extLst>
          </p:cNvPr>
          <p:cNvSpPr>
            <a:spLocks noGrp="1"/>
          </p:cNvSpPr>
          <p:nvPr/>
        </p:nvSpPr>
        <p:spPr>
          <a:xfrm>
            <a:off x="5276850" y="2771775"/>
            <a:ext cx="2143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35313-2707-42CB-9852-91897F1FBBBD}"/>
              </a:ext>
            </a:extLst>
          </p:cNvPr>
          <p:cNvSpPr>
            <a:spLocks noGrp="1"/>
          </p:cNvSpPr>
          <p:nvPr/>
        </p:nvSpPr>
        <p:spPr>
          <a:xfrm>
            <a:off x="7524750" y="2771775"/>
            <a:ext cx="3857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Open or create a shared project.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F17078-4667-4020-85F1-C658BE425436}"/>
              </a:ext>
            </a:extLst>
          </p:cNvPr>
          <p:cNvSpPr>
            <a:spLocks noGrp="1"/>
          </p:cNvSpPr>
          <p:nvPr/>
        </p:nvSpPr>
        <p:spPr>
          <a:xfrm>
            <a:off x="4505325" y="382905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B65A04-2E06-490A-882A-B9B647059F5A}"/>
              </a:ext>
            </a:extLst>
          </p:cNvPr>
          <p:cNvSpPr>
            <a:spLocks noGrp="1"/>
          </p:cNvSpPr>
          <p:nvPr/>
        </p:nvSpPr>
        <p:spPr>
          <a:xfrm>
            <a:off x="5276850" y="3829050"/>
            <a:ext cx="2143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Notes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D07F3-60E7-4DA2-AE0B-7DC38265291E}"/>
              </a:ext>
            </a:extLst>
          </p:cNvPr>
          <p:cNvSpPr>
            <a:spLocks noGrp="1"/>
          </p:cNvSpPr>
          <p:nvPr/>
        </p:nvSpPr>
        <p:spPr>
          <a:xfrm>
            <a:off x="7524750" y="3829050"/>
            <a:ext cx="3857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Add text and comments within a project.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58F15C-26B7-4FB3-AE9A-64EB5562E07A}"/>
              </a:ext>
            </a:extLst>
          </p:cNvPr>
          <p:cNvSpPr>
            <a:spLocks noGrp="1"/>
          </p:cNvSpPr>
          <p:nvPr/>
        </p:nvSpPr>
        <p:spPr>
          <a:xfrm>
            <a:off x="4505325" y="48863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E5875A-66B4-4E58-9FF7-46BD6E904719}"/>
              </a:ext>
            </a:extLst>
          </p:cNvPr>
          <p:cNvSpPr>
            <a:spLocks noGrp="1"/>
          </p:cNvSpPr>
          <p:nvPr/>
        </p:nvSpPr>
        <p:spPr>
          <a:xfrm>
            <a:off x="5276850" y="4886325"/>
            <a:ext cx="2143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Photos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4234BA-F0C5-4DD0-91BE-03F56B8CC2EC}"/>
              </a:ext>
            </a:extLst>
          </p:cNvPr>
          <p:cNvSpPr>
            <a:spLocks noGrp="1"/>
          </p:cNvSpPr>
          <p:nvPr/>
        </p:nvSpPr>
        <p:spPr>
          <a:xfrm>
            <a:off x="7524750" y="4886325"/>
            <a:ext cx="3857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Capture or attach up to three images per note.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02264C-55C3-4064-AF1B-5942268213D4}"/>
              </a:ext>
            </a:extLst>
          </p:cNvPr>
          <p:cNvSpPr>
            <a:spLocks noGrp="1"/>
          </p:cNvSpPr>
          <p:nvPr/>
        </p:nvSpPr>
        <p:spPr>
          <a:xfrm>
            <a:off x="4514850" y="5876925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The phone does not create accounts or run blast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44957865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F23E2B0-8190-47D8-9787-F55FABB7418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14 / FIELD CONNECTIVITY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F0D41D-B9D1-4F8A-AE55-347256394C5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Current shared flow and offline goal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1989C9-9146-4E57-9CBD-606DFCFEE23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0368C-08EA-4D97-B372-A6F0540B8FC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0E3C4-F668-4DBB-BF34-A6A912146067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8300D-1BA8-41DA-8652-82CB8FF8866A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FIELD NEED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F51BF-848F-45CB-8599-AC29904669CE}"/>
              </a:ext>
            </a:extLst>
          </p:cNvPr>
          <p:cNvSpPr>
            <a:spLocks noGrp="1"/>
          </p:cNvSpPr>
          <p:nvPr/>
        </p:nvSpPr>
        <p:spPr>
          <a:xfrm>
            <a:off x="628650" y="2390775"/>
            <a:ext cx="501015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Remote blast sites may have unreliable mobile signal.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A218D-54FA-4115-A826-4B70488A3CB9}"/>
              </a:ext>
            </a:extLst>
          </p:cNvPr>
          <p:cNvSpPr>
            <a:spLocks noGrp="1"/>
          </p:cNvSpPr>
          <p:nvPr/>
        </p:nvSpPr>
        <p:spPr>
          <a:xfrm>
            <a:off x="6057900" y="1809750"/>
            <a:ext cx="19050" cy="27146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C8FC9-DDD5-471A-BE3B-9AC1E02B9674}"/>
              </a:ext>
            </a:extLst>
          </p:cNvPr>
          <p:cNvSpPr>
            <a:spLocks noGrp="1"/>
          </p:cNvSpPr>
          <p:nvPr/>
        </p:nvSpPr>
        <p:spPr>
          <a:xfrm>
            <a:off x="6486525" y="1809750"/>
            <a:ext cx="49815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CURRENT 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C752B-AF91-4903-A9B0-F9280F75CF9F}"/>
              </a:ext>
            </a:extLst>
          </p:cNvPr>
          <p:cNvSpPr>
            <a:spLocks noGrp="1"/>
          </p:cNvSpPr>
          <p:nvPr/>
        </p:nvSpPr>
        <p:spPr>
          <a:xfrm>
            <a:off x="6486525" y="2390775"/>
            <a:ext cx="4857750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The Android app sends projects, notes, comments and photos through the shared API while connected.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5B7F2-328C-43A5-9467-8A7A84AF2666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096184"/>
      </p:ext>
    </p:extLst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3440ACC-B12C-41FE-B7DB-D17A5BC4CB4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15 / REQUIREMENTS ALIGNMENT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4B05A7-34DC-40A0-A91C-73B84CA036F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46ACD-C9E2-4573-A201-1985B4270A2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7A2620-2257-4DC6-A171-1DC779489C1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9ACE38-665A-46F9-9D98-30AE87C53289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1C6F-5246-4978-AF82-13811CCF5DDB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0288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10893-B435-45AA-853A-E2811B6E80C6}"/>
              </a:ext>
            </a:extLst>
          </p:cNvPr>
          <p:cNvSpPr>
            <a:spLocks noGrp="1"/>
          </p:cNvSpPr>
          <p:nvPr/>
        </p:nvSpPr>
        <p:spPr>
          <a:xfrm>
            <a:off x="2828925" y="1752600"/>
            <a:ext cx="6438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WHAT THE BUILD DOES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A4509-9582-4778-B0AA-6FFD88CABF76}"/>
              </a:ext>
            </a:extLst>
          </p:cNvPr>
          <p:cNvSpPr>
            <a:spLocks noGrp="1"/>
          </p:cNvSpPr>
          <p:nvPr/>
        </p:nvSpPr>
        <p:spPr>
          <a:xfrm>
            <a:off x="10115550" y="1752600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FF622-3CFE-43C6-9003-DC133A162C1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52F1C9-9188-46D6-9F5A-6A747639919E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FR-01/02/03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4CEAF-BFA6-46CF-9AC9-2D76065CA6D8}"/>
              </a:ext>
            </a:extLst>
          </p:cNvPr>
          <p:cNvSpPr>
            <a:spLocks noGrp="1"/>
          </p:cNvSpPr>
          <p:nvPr/>
        </p:nvSpPr>
        <p:spPr>
          <a:xfrm>
            <a:off x="2828925" y="2209800"/>
            <a:ext cx="67056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Identity sign-in; API checks company and ownership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3D3711-4963-4EC6-BA5F-79FA382CF636}"/>
              </a:ext>
            </a:extLst>
          </p:cNvPr>
          <p:cNvSpPr>
            <a:spLocks noGrp="1"/>
          </p:cNvSpPr>
          <p:nvPr/>
        </p:nvSpPr>
        <p:spPr>
          <a:xfrm>
            <a:off x="10115550" y="2219325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0B8001-4B42-4A8B-82A0-1834548E5B93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F568B4-470F-4873-A463-AA02F91D761C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FR-04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B0A838-D0B3-4633-9B73-CEEFD3C729B2}"/>
              </a:ext>
            </a:extLst>
          </p:cNvPr>
          <p:cNvSpPr>
            <a:spLocks noGrp="1"/>
          </p:cNvSpPr>
          <p:nvPr/>
        </p:nvSpPr>
        <p:spPr>
          <a:xfrm>
            <a:off x="2828925" y="3162300"/>
            <a:ext cx="67056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Create, edit, deactivate and reactivate Blasters; five-active limit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04D9BE-C4E3-47E4-AD94-08A65B9410CA}"/>
              </a:ext>
            </a:extLst>
          </p:cNvPr>
          <p:cNvSpPr>
            <a:spLocks noGrp="1"/>
          </p:cNvSpPr>
          <p:nvPr/>
        </p:nvSpPr>
        <p:spPr>
          <a:xfrm>
            <a:off x="10115550" y="3171825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662182-6F1A-45A9-B05F-F99AEEC5983C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1A910A-B893-4041-9F5F-BB78C72779EB}"/>
              </a:ext>
            </a:extLst>
          </p:cNvPr>
          <p:cNvSpPr>
            <a:spLocks noGrp="1"/>
          </p:cNvSpPr>
          <p:nvPr/>
        </p:nvSpPr>
        <p:spPr>
          <a:xfrm>
            <a:off x="647700" y="41338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FR-09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18608D-425D-4721-8E2A-AD34ABAADE74}"/>
              </a:ext>
            </a:extLst>
          </p:cNvPr>
          <p:cNvSpPr>
            <a:spLocks noGrp="1"/>
          </p:cNvSpPr>
          <p:nvPr/>
        </p:nvSpPr>
        <p:spPr>
          <a:xfrm>
            <a:off x="2828925" y="4114800"/>
            <a:ext cx="67056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Create, search, filter, edit and soft delete projects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AA85BD-1816-40F5-9B92-9FB9603B7365}"/>
              </a:ext>
            </a:extLst>
          </p:cNvPr>
          <p:cNvSpPr>
            <a:spLocks noGrp="1"/>
          </p:cNvSpPr>
          <p:nvPr/>
        </p:nvSpPr>
        <p:spPr>
          <a:xfrm>
            <a:off x="10115550" y="4124325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BADDFE-AE19-44E4-A19C-2F46F21FDC06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108A41-7479-4DC4-8B31-6ACF49E7283D}"/>
              </a:ext>
            </a:extLst>
          </p:cNvPr>
          <p:cNvSpPr>
            <a:spLocks noGrp="1"/>
          </p:cNvSpPr>
          <p:nvPr/>
        </p:nvSpPr>
        <p:spPr>
          <a:xfrm>
            <a:off x="647700" y="50863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FR-19/21/25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630884-507F-41CA-9087-F8C4B6DE7378}"/>
              </a:ext>
            </a:extLst>
          </p:cNvPr>
          <p:cNvSpPr>
            <a:spLocks noGrp="1"/>
          </p:cNvSpPr>
          <p:nvPr/>
        </p:nvSpPr>
        <p:spPr>
          <a:xfrm>
            <a:off x="2828925" y="5067300"/>
            <a:ext cx="67056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Set parameters, manage holes and assign products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DD2863-269C-407E-ADD3-0A1F73DE79A5}"/>
              </a:ext>
            </a:extLst>
          </p:cNvPr>
          <p:cNvSpPr>
            <a:spLocks noGrp="1"/>
          </p:cNvSpPr>
          <p:nvPr/>
        </p:nvSpPr>
        <p:spPr>
          <a:xfrm>
            <a:off x="10115550" y="5076825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0C302-DEDB-4067-AA84-2E1A572B41F0}"/>
              </a:ext>
            </a:extLst>
          </p:cNvPr>
          <p:cNvSpPr>
            <a:spLocks noGrp="1"/>
          </p:cNvSpPr>
          <p:nvPr/>
        </p:nvSpPr>
        <p:spPr>
          <a:xfrm>
            <a:off x="647700" y="5943600"/>
            <a:ext cx="106965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References and descriptions are carried over from the teammate draft.</a:t>
            </a:r>
          </a:p>
        </p:txBody>
      </p:sp>
    </p:spTree>
    <p:extLst>
      <p:ext uri="{BB962C8B-B14F-4D97-AF65-F5344CB8AC3E}">
        <p14:creationId xmlns:p14="http://schemas.microsoft.com/office/powerpoint/2010/main" val="1803903232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B9341E1-8C8C-433B-8FF9-911026DE6AD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16 / REQUIREMENTS ALIGNMENT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87651-C03E-4549-BC12-E5AF05FC2E6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Calculations, security and reports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843437-3E41-4903-AAC0-212961DDFE4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960927-5CC0-4E81-A97A-C643B0B2B48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F83DC4-17E4-4EAB-A848-197805E83E8F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22954F-7B5F-4AA5-BDA7-4D5618634EF2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20288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AFA77-A126-4F87-B425-B08BCFC80190}"/>
              </a:ext>
            </a:extLst>
          </p:cNvPr>
          <p:cNvSpPr>
            <a:spLocks noGrp="1"/>
          </p:cNvSpPr>
          <p:nvPr/>
        </p:nvSpPr>
        <p:spPr>
          <a:xfrm>
            <a:off x="2828925" y="1752600"/>
            <a:ext cx="6438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WHAT THE BUILD DOES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308D30-A4FA-43D5-8EA7-F59628DAB4E4}"/>
              </a:ext>
            </a:extLst>
          </p:cNvPr>
          <p:cNvSpPr>
            <a:spLocks noGrp="1"/>
          </p:cNvSpPr>
          <p:nvPr/>
        </p:nvSpPr>
        <p:spPr>
          <a:xfrm>
            <a:off x="10115550" y="1752600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A9DEA-2418-459B-9A91-AE3DC2BED68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15068A-66E1-4CC2-A692-58CEBB1D9D78}"/>
              </a:ext>
            </a:extLst>
          </p:cNvPr>
          <p:cNvSpPr>
            <a:spLocks noGrp="1"/>
          </p:cNvSpPr>
          <p:nvPr/>
        </p:nvSpPr>
        <p:spPr>
          <a:xfrm>
            <a:off x="647700" y="2219325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FR-29–33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7A27E-BC10-4CD9-9582-7819C8C27FA6}"/>
              </a:ext>
            </a:extLst>
          </p:cNvPr>
          <p:cNvSpPr>
            <a:spLocks noGrp="1"/>
          </p:cNvSpPr>
          <p:nvPr/>
        </p:nvSpPr>
        <p:spPr>
          <a:xfrm>
            <a:off x="2828925" y="2200275"/>
            <a:ext cx="67056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Totals, volume, tonnage, PPV, flyrock, warnings and 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0229EF-EB43-46D1-A9A3-0AD4084ED20D}"/>
              </a:ext>
            </a:extLst>
          </p:cNvPr>
          <p:cNvSpPr>
            <a:spLocks noGrp="1"/>
          </p:cNvSpPr>
          <p:nvPr/>
        </p:nvSpPr>
        <p:spPr>
          <a:xfrm>
            <a:off x="10115550" y="2219325"/>
            <a:ext cx="12858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7B82A6-2D36-4285-8A28-79E30083961B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6912C4-D95C-40F3-BC48-582887CF401B}"/>
              </a:ext>
            </a:extLst>
          </p:cNvPr>
          <p:cNvSpPr>
            <a:spLocks noGrp="1"/>
          </p:cNvSpPr>
          <p:nvPr/>
        </p:nvSpPr>
        <p:spPr>
          <a:xfrm>
            <a:off x="647700" y="3171825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NFR-01/04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9A3415-6F5C-49EF-8BDE-02192E38FCC0}"/>
              </a:ext>
            </a:extLst>
          </p:cNvPr>
          <p:cNvSpPr>
            <a:spLocks noGrp="1"/>
          </p:cNvSpPr>
          <p:nvPr/>
        </p:nvSpPr>
        <p:spPr>
          <a:xfrm>
            <a:off x="2828925" y="3152775"/>
            <a:ext cx="67056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API rechecks role, company and project ownership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D9372B-7924-4642-9D73-5AFED6E6AE83}"/>
              </a:ext>
            </a:extLst>
          </p:cNvPr>
          <p:cNvSpPr>
            <a:spLocks noGrp="1"/>
          </p:cNvSpPr>
          <p:nvPr/>
        </p:nvSpPr>
        <p:spPr>
          <a:xfrm>
            <a:off x="10115550" y="3171825"/>
            <a:ext cx="12858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DA9E70-86EC-4B6E-8492-E939A777F4F2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112C5F-F491-4D19-AF69-CC29A23EA8A8}"/>
              </a:ext>
            </a:extLst>
          </p:cNvPr>
          <p:cNvSpPr>
            <a:spLocks noGrp="1"/>
          </p:cNvSpPr>
          <p:nvPr/>
        </p:nvSpPr>
        <p:spPr>
          <a:xfrm>
            <a:off x="647700" y="4124325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NFR-02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C6EBF-33E1-437B-9B63-856CA69EEE87}"/>
              </a:ext>
            </a:extLst>
          </p:cNvPr>
          <p:cNvSpPr>
            <a:spLocks noGrp="1"/>
          </p:cNvSpPr>
          <p:nvPr/>
        </p:nvSpPr>
        <p:spPr>
          <a:xfrm>
            <a:off x="2828925" y="4105275"/>
            <a:ext cx="67056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719"/>
                </a:solidFill>
                <a:latin typeface="Arial"/>
                <a:ea typeface="Arial"/>
                <a:cs typeface="Arial"/>
              </a:rPr>
              <a:t>Hosted HTTPS; signing key and DB secrets in Azure settings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88BB37-997C-44AA-9420-6A97EC9DA79D}"/>
              </a:ext>
            </a:extLst>
          </p:cNvPr>
          <p:cNvSpPr>
            <a:spLocks noGrp="1"/>
          </p:cNvSpPr>
          <p:nvPr/>
        </p:nvSpPr>
        <p:spPr>
          <a:xfrm>
            <a:off x="10115550" y="4124325"/>
            <a:ext cx="12858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Hosted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6129A2-CBBF-461E-9046-2FE0173E4B3D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363AC3-88BB-4FB8-A058-190C89C86757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6775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626C73"/>
                </a:solidFill>
                <a:latin typeface="Arial"/>
                <a:ea typeface="Arial"/>
                <a:cs typeface="Arial"/>
              </a:rPr>
              <a:t>Calculation models are demonstration estimates that need specialist review.</a:t>
            </a:r>
          </a:p>
        </p:txBody>
      </p:sp>
    </p:spTree>
    <p:extLst>
      <p:ext uri="{BB962C8B-B14F-4D97-AF65-F5344CB8AC3E}">
        <p14:creationId xmlns:p14="http://schemas.microsoft.com/office/powerpoint/2010/main" val="503503292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69FE11B-A7B6-49A7-A43D-B976309D437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17 / SECURITY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0EA501-AAAB-4BCF-ABC3-509080A884F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Identity, access and data protection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7B4E5D-6329-4ACE-9440-E456A7E4D79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553DB1-86D3-4FC2-BCF5-565D475F950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071A0-4F4D-4C0A-ABFB-20688625732F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437CDC-8EAF-4EE5-AAC7-1A9F15E8DCEF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276850" cy="3705225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3E3CE-DE3F-4957-A301-B9DF82587EFA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276850" cy="57150"/>
          </a:xfrm>
          <a:prstGeom prst="rect">
            <a:avLst/>
          </a:prstGeom>
          <a:solidFill>
            <a:srgbClr val="ED252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4C989-CD82-4C36-8E55-4C05D78B99A8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4743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ACCESS AND 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931F07-D328-49AC-9DF0-7F72CC58A705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ASP.NET Core Identity accounts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Local development password reset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MVC cookie and API JWT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Main Company User / Blaster roles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Five active Blasters per company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1FE95D-0155-4DEC-B0A6-CCAB8A91E1AA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5276850" cy="3705225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3C58EC-ADD2-4A24-9046-C7842577947D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5276850" cy="57150"/>
          </a:xfrm>
          <a:prstGeom prst="rect">
            <a:avLst/>
          </a:prstGeom>
          <a:solidFill>
            <a:srgbClr val="101316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01BF19-2A3E-42AE-8CDD-CE6F235DBDCF}"/>
              </a:ext>
            </a:extLst>
          </p:cNvPr>
          <p:cNvSpPr>
            <a:spLocks noGrp="1"/>
          </p:cNvSpPr>
          <p:nvPr/>
        </p:nvSpPr>
        <p:spPr>
          <a:xfrm>
            <a:off x="6505575" y="2152650"/>
            <a:ext cx="4705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9ED01F-1F50-4FB3-96F6-DF9983F0F689}"/>
              </a:ext>
            </a:extLst>
          </p:cNvPr>
          <p:cNvSpPr>
            <a:spLocks noGrp="1"/>
          </p:cNvSpPr>
          <p:nvPr/>
        </p:nvSpPr>
        <p:spPr>
          <a:xfrm>
            <a:off x="6505575" y="2714625"/>
            <a:ext cx="468630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HTTPS for the web and API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Company and owner checks in the API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Signing key outside GitHub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Project soft delete retains history</a:t>
            </a:r>
          </a:p>
          <a:p>
            <a:pPr algn="l">
              <a:lnSpc>
                <a:spcPct val="131000"/>
              </a:lnSpc>
              <a:buNone/>
              <a:defRPr sz="17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Secret connection string in hosting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7020A-BDEE-4049-893F-1F342C1B2863}"/>
              </a:ext>
            </a:extLst>
          </p:cNvPr>
          <p:cNvSpPr>
            <a:spLocks noGrp="1"/>
          </p:cNvSpPr>
          <p:nvPr/>
        </p:nvSpPr>
        <p:spPr>
          <a:xfrm>
            <a:off x="638175" y="5753100"/>
            <a:ext cx="10734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C73"/>
                </a:solidFill>
                <a:latin typeface="Arial"/>
                <a:ea typeface="Arial"/>
                <a:cs typeface="Arial"/>
              </a:rPr>
              <a:t>Production email delivery for self-service reset is still pending.</a:t>
            </a:r>
          </a:p>
        </p:txBody>
      </p:sp>
    </p:spTree>
    <p:extLst>
      <p:ext uri="{BB962C8B-B14F-4D97-AF65-F5344CB8AC3E}">
        <p14:creationId xmlns:p14="http://schemas.microsoft.com/office/powerpoint/2010/main" val="395615939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3F77B77-ED00-4214-BABC-05F16D963A6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18 / ENGINEERING CHOICES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1729DF-BDBB-4284-96C7-E021CDD4FCF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Decisions and challenges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BA0CD0-E566-4D67-BF67-5F56FA9C10E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1E19C9-DA6E-4C31-A816-32DD48F5F0C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F0FDA-0507-44B7-B044-97BA6E53FA9F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9690F-A6EC-4DC5-A7E9-AF7B8049094E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49149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DESIGN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518DD9-6AF4-4CEC-BC2C-C2556495D55E}"/>
              </a:ext>
            </a:extLst>
          </p:cNvPr>
          <p:cNvSpPr>
            <a:spLocks noGrp="1"/>
          </p:cNvSpPr>
          <p:nvPr/>
        </p:nvSpPr>
        <p:spPr>
          <a:xfrm>
            <a:off x="6486525" y="1752600"/>
            <a:ext cx="49625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CHALLENGES HANDLED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CB620-F66A-4B9A-97A4-F2A4CBDE9BE6}"/>
              </a:ext>
            </a:extLst>
          </p:cNvPr>
          <p:cNvSpPr>
            <a:spLocks noGrp="1"/>
          </p:cNvSpPr>
          <p:nvPr/>
        </p:nvSpPr>
        <p:spPr>
          <a:xfrm>
            <a:off x="6057900" y="1762125"/>
            <a:ext cx="19050" cy="34766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367B29-E74E-4845-B88A-9FEA3AE24CB6}"/>
              </a:ext>
            </a:extLst>
          </p:cNvPr>
          <p:cNvSpPr>
            <a:spLocks noGrp="1"/>
          </p:cNvSpPr>
          <p:nvPr/>
        </p:nvSpPr>
        <p:spPr>
          <a:xfrm>
            <a:off x="647700" y="2314575"/>
            <a:ext cx="4981575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2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Separate API shared by web and Android</a:t>
            </a:r>
          </a:p>
          <a:p>
            <a:pPr algn="l">
              <a:lnSpc>
                <a:spcPct val="132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ASP.NET Core + EF Core + SQL Server on .NET 10</a:t>
            </a:r>
          </a:p>
          <a:p>
            <a:pPr algn="l">
              <a:lnSpc>
                <a:spcPct val="132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MVC cookie session; JWT to the API</a:t>
            </a:r>
          </a:p>
          <a:p>
            <a:pPr algn="l">
              <a:lnSpc>
                <a:spcPct val="132000"/>
              </a:lnSpc>
              <a:buNone/>
              <a:defRPr sz="18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Kotlin Android app for field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946471-34B6-4939-B928-36940C8F86BE}"/>
              </a:ext>
            </a:extLst>
          </p:cNvPr>
          <p:cNvSpPr>
            <a:spLocks noGrp="1"/>
          </p:cNvSpPr>
          <p:nvPr/>
        </p:nvSpPr>
        <p:spPr>
          <a:xfrm>
            <a:off x="6486525" y="2314575"/>
            <a:ext cx="497205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1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Every query respects company and owner</a:t>
            </a:r>
          </a:p>
          <a:p>
            <a:pPr algn="l">
              <a:lnSpc>
                <a:spcPct val="131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Five-seat limit is enforced in the API</a:t>
            </a:r>
          </a:p>
          <a:p>
            <a:pPr algn="l">
              <a:lnSpc>
                <a:spcPct val="131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PPV and </a:t>
            </a:r>
            <a:r>
              <a:rPr sz="1800" b="1" dirty="0" err="1">
                <a:solidFill>
                  <a:srgbClr val="141719"/>
                </a:solidFill>
                <a:latin typeface="Arial"/>
                <a:ea typeface="Arial"/>
                <a:cs typeface="Arial"/>
              </a:rPr>
              <a:t>flyrock</a:t>
            </a:r>
            <a:r>
              <a:rPr sz="1800" b="1" dirty="0">
                <a:solidFill>
                  <a:srgbClr val="141719"/>
                </a:solidFill>
                <a:latin typeface="Arial"/>
                <a:ea typeface="Arial"/>
                <a:cs typeface="Arial"/>
              </a:rPr>
              <a:t> marked as screening estimates</a:t>
            </a:r>
          </a:p>
        </p:txBody>
      </p:sp>
    </p:spTree>
    <p:extLst>
      <p:ext uri="{BB962C8B-B14F-4D97-AF65-F5344CB8AC3E}">
        <p14:creationId xmlns:p14="http://schemas.microsoft.com/office/powerpoint/2010/main" val="2075417571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3653FC-62B6-4501-8327-ECAF90EBDF6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lang="en-ZA" sz="1200" b="1" dirty="0">
                <a:solidFill>
                  <a:srgbClr val="ED2528"/>
                </a:solidFill>
                <a:latin typeface="Arial"/>
                <a:ea typeface="Arial"/>
                <a:cs typeface="Arial"/>
              </a:rPr>
              <a:t>19</a:t>
            </a:r>
            <a:r>
              <a:rPr sz="1200" b="1" dirty="0">
                <a:solidFill>
                  <a:srgbClr val="ED2528"/>
                </a:solidFill>
                <a:latin typeface="Arial"/>
                <a:ea typeface="Arial"/>
                <a:cs typeface="Arial"/>
              </a:rPr>
              <a:t> / HOSTING AND RELIABILITY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73B3F1-0668-41AC-ADEB-1A3677F907C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BlastPro is live on Azure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8E72F-B6CE-4BD5-9B76-FA5EB9BAE4C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D9DED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9F07F-3D73-4141-8672-E4EFD3965EE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905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BLASTPRO  /  INSY7315 TASK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3CEE4-BFD8-4615-8B2A-F5A4881A4984}"/>
              </a:ext>
            </a:extLst>
          </p:cNvPr>
          <p:cNvSpPr>
            <a:spLocks noGrp="1"/>
          </p:cNvSpPr>
          <p:nvPr/>
        </p:nvSpPr>
        <p:spPr>
          <a:xfrm>
            <a:off x="11106150" y="64579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1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C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7935E3-FB3F-4CFA-93CA-B0BA391A463E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276850" cy="3629025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89B2C-1DF9-43FD-908B-989EF166A248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276850" cy="57150"/>
          </a:xfrm>
          <a:prstGeom prst="rect">
            <a:avLst/>
          </a:prstGeom>
          <a:solidFill>
            <a:srgbClr val="16704B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44D70-D0F0-4A36-95F2-C62C6DEC2958}"/>
              </a:ext>
            </a:extLst>
          </p:cNvPr>
          <p:cNvSpPr>
            <a:spLocks noGrp="1"/>
          </p:cNvSpPr>
          <p:nvPr/>
        </p:nvSpPr>
        <p:spPr>
          <a:xfrm>
            <a:off x="866775" y="2171700"/>
            <a:ext cx="46767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670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04B"/>
                </a:solidFill>
                <a:latin typeface="Arial"/>
                <a:ea typeface="Arial"/>
                <a:cs typeface="Arial"/>
              </a:rPr>
              <a:t>LOCAL DEVELOPMENT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501A77-55C0-4FDB-973C-F85BD86F6379}"/>
              </a:ext>
            </a:extLst>
          </p:cNvPr>
          <p:cNvSpPr>
            <a:spLocks noGrp="1"/>
          </p:cNvSpPr>
          <p:nvPr/>
        </p:nvSpPr>
        <p:spPr>
          <a:xfrm>
            <a:off x="866775" y="2800350"/>
            <a:ext cx="4695825" cy="2390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MVC and API run together in Visual Studio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SQL Server LocalDB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EF Core migrations on API startup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Development password-reset mailbox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658068-39BD-4E92-8D79-AE8D0966B7E6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5276850" cy="3629025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58CBAC-7462-4DC8-8FA0-C7CA39B8B000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5276850" cy="57150"/>
          </a:xfrm>
          <a:prstGeom prst="rect">
            <a:avLst/>
          </a:prstGeom>
          <a:solidFill>
            <a:srgbClr val="ED252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E433F-CDB9-41B2-9A9C-65ADE1045EDF}"/>
              </a:ext>
            </a:extLst>
          </p:cNvPr>
          <p:cNvSpPr>
            <a:spLocks noGrp="1"/>
          </p:cNvSpPr>
          <p:nvPr/>
        </p:nvSpPr>
        <p:spPr>
          <a:xfrm>
            <a:off x="6515100" y="2171700"/>
            <a:ext cx="47244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CURRENT HOSTED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751105-5CC4-4215-8958-4BD5C3C86C47}"/>
              </a:ext>
            </a:extLst>
          </p:cNvPr>
          <p:cNvSpPr>
            <a:spLocks noGrp="1"/>
          </p:cNvSpPr>
          <p:nvPr/>
        </p:nvSpPr>
        <p:spPr>
          <a:xfrm>
            <a:off x="6515100" y="2800350"/>
            <a:ext cx="4676775" cy="2390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Azure App Service hosts web and API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Azure SQL hosts the shared database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HTTPS serves browsers and Android</a:t>
            </a:r>
          </a:p>
          <a:p>
            <a:pPr algn="l">
              <a:lnSpc>
                <a:spcPct val="130000"/>
              </a:lnSpc>
              <a:buNone/>
              <a:defRPr sz="18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JWT key and SQL connection use app settings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1BDE22-2B94-428D-B353-D5C222A0AD62}"/>
              </a:ext>
            </a:extLst>
          </p:cNvPr>
          <p:cNvSpPr>
            <a:spLocks noGrp="1"/>
          </p:cNvSpPr>
          <p:nvPr/>
        </p:nvSpPr>
        <p:spPr>
          <a:xfrm>
            <a:off x="628650" y="5600700"/>
            <a:ext cx="10810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Live site: https://blastpro-web-2c61c74b-axf3gvbtg9a8f3hg.southafricanorth-01.azurewebsites.net/</a:t>
            </a:r>
          </a:p>
        </p:txBody>
      </p:sp>
    </p:spTree>
    <p:extLst>
      <p:ext uri="{BB962C8B-B14F-4D97-AF65-F5344CB8AC3E}">
        <p14:creationId xmlns:p14="http://schemas.microsoft.com/office/powerpoint/2010/main" val="839159370"/>
      </p:ext>
    </p:extLst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AA8F17-4349-4DD3-B4A8-B39BFD8D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02" r="23102"/>
          <a:stretch>
            <a:fillRect/>
          </a:stretch>
        </p:blipFill>
        <p:spPr>
          <a:xfrm>
            <a:off x="6657975" y="0"/>
            <a:ext cx="553402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0CF57D-1199-43FC-A899-6CDC178BFF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5797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325A4-0032-48DC-8AFA-E7AC7508C063}"/>
              </a:ext>
            </a:extLst>
          </p:cNvPr>
          <p:cNvSpPr>
            <a:spLocks noGrp="1"/>
          </p:cNvSpPr>
          <p:nvPr/>
        </p:nvSpPr>
        <p:spPr>
          <a:xfrm>
            <a:off x="657225" y="1323975"/>
            <a:ext cx="55340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1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517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BLASTPRO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2227BC-4E87-45F5-9AC6-EFC8B7E09396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971550" cy="76200"/>
          </a:xfrm>
          <a:prstGeom prst="rect">
            <a:avLst/>
          </a:prstGeom>
          <a:solidFill>
            <a:srgbClr val="ED252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28AB4-E667-41DB-809A-C4516E52C001}"/>
              </a:ext>
            </a:extLst>
          </p:cNvPr>
          <p:cNvSpPr>
            <a:spLocks noGrp="1"/>
          </p:cNvSpPr>
          <p:nvPr/>
        </p:nvSpPr>
        <p:spPr>
          <a:xfrm>
            <a:off x="666750" y="2886075"/>
            <a:ext cx="54102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9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925" b="1">
                <a:solidFill>
                  <a:srgbClr val="14171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1719"/>
                </a:solidFill>
                <a:latin typeface="Arial"/>
                <a:ea typeface="Arial"/>
                <a:cs typeface="Arial"/>
              </a:rPr>
              <a:t>Planning, results and field records in one project.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92527-7D47-4824-A775-7D4D6F30CAA2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53054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626C73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26C73"/>
                </a:solidFill>
                <a:latin typeface="Arial"/>
                <a:ea typeface="Arial"/>
                <a:cs typeface="Arial"/>
              </a:rPr>
              <a:t>Working core: accounts, projects, patterns, calculations, reports and field notes.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9EACC-0D58-4843-B070-0E4D9EC8846B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53244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ED25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2528"/>
                </a:solidFill>
                <a:latin typeface="Arial"/>
                <a:ea typeface="Arial"/>
                <a:cs typeface="Arial"/>
              </a:rPr>
              <a:t>Live on Azure. Remaining work: GitHub Actions, direct PDF, production reset email and offline sync.</a:t>
            </a:r>
          </a:p>
        </p:txBody>
      </p:sp>
    </p:spTree>
    <p:extLst>
      <p:ext uri="{BB962C8B-B14F-4D97-AF65-F5344CB8AC3E}">
        <p14:creationId xmlns:p14="http://schemas.microsoft.com/office/powerpoint/2010/main" val="115715798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1294</Words>
  <Application>Microsoft Office PowerPoint</Application>
  <DocSecurity>0</DocSecurity>
  <PresentationFormat>Widescreen</PresentationFormat>
  <Paragraphs>294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Nicholas Farquhar</cp:lastModifiedBy>
  <cp:revision>3</cp:revision>
  <dcterms:created xsi:type="dcterms:W3CDTF">2026-10-03T15:47:21Z</dcterms:created>
  <dcterms:modified xsi:type="dcterms:W3CDTF">2026-10-09T11:40:36Z</dcterms:modified>
</cp:coreProperties>
</file>